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63850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85800" y="5486399"/>
            <a:ext cx="11506200" cy="1371600"/>
          </a:xfrm>
          <a:custGeom>
            <a:avLst/>
            <a:gdLst/>
            <a:ahLst/>
            <a:cxnLst/>
            <a:rect l="l" t="t" r="r" b="b"/>
            <a:pathLst>
              <a:path w="11506200" h="1371600">
                <a:moveTo>
                  <a:pt x="3422904" y="393192"/>
                </a:moveTo>
                <a:lnTo>
                  <a:pt x="0" y="393192"/>
                </a:lnTo>
                <a:lnTo>
                  <a:pt x="0" y="1371600"/>
                </a:lnTo>
                <a:lnTo>
                  <a:pt x="3422904" y="1371600"/>
                </a:lnTo>
                <a:lnTo>
                  <a:pt x="3422904" y="393192"/>
                </a:lnTo>
                <a:close/>
              </a:path>
              <a:path w="11506200" h="1371600">
                <a:moveTo>
                  <a:pt x="11506200" y="0"/>
                </a:moveTo>
                <a:lnTo>
                  <a:pt x="8083296" y="0"/>
                </a:lnTo>
                <a:lnTo>
                  <a:pt x="8083296" y="978408"/>
                </a:lnTo>
                <a:lnTo>
                  <a:pt x="11506200" y="978408"/>
                </a:lnTo>
                <a:lnTo>
                  <a:pt x="11506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2240" y="5410199"/>
            <a:ext cx="606550" cy="47548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07068" y="5478778"/>
            <a:ext cx="832102" cy="34594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86516" y="5423914"/>
            <a:ext cx="830578" cy="46177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20200" y="5964934"/>
            <a:ext cx="1335024" cy="52730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52404" y="5952744"/>
            <a:ext cx="970788" cy="5120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41105" y="2797555"/>
            <a:ext cx="8452485" cy="1120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8171" y="5560540"/>
            <a:ext cx="11723826" cy="12974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254" y="155955"/>
            <a:ext cx="7850580" cy="823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66871" y="1302511"/>
            <a:ext cx="5156200" cy="4241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8763" y="4454652"/>
            <a:ext cx="63798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latin typeface="Arial"/>
                <a:cs typeface="Arial"/>
              </a:rPr>
              <a:t>AI-</a:t>
            </a:r>
            <a:r>
              <a:rPr sz="2000" b="1" spc="-10" dirty="0">
                <a:latin typeface="Arial"/>
                <a:cs typeface="Arial"/>
              </a:rPr>
              <a:t>Based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Weekly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Employee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30" dirty="0">
                <a:latin typeface="Arial"/>
                <a:cs typeface="Arial"/>
              </a:rPr>
              <a:t>Well-</a:t>
            </a:r>
            <a:r>
              <a:rPr sz="2000" b="1" dirty="0">
                <a:latin typeface="Arial"/>
                <a:cs typeface="Arial"/>
              </a:rPr>
              <a:t>Being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Pulse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System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857250" marR="5080" indent="-844550">
              <a:lnSpc>
                <a:spcPts val="4300"/>
              </a:lnSpc>
              <a:spcBef>
                <a:spcPts val="215"/>
              </a:spcBef>
            </a:pPr>
            <a:r>
              <a:rPr sz="3600" dirty="0"/>
              <a:t>School</a:t>
            </a:r>
            <a:r>
              <a:rPr sz="3600" spc="-120" dirty="0"/>
              <a:t> </a:t>
            </a:r>
            <a:r>
              <a:rPr sz="3600" dirty="0"/>
              <a:t>of</a:t>
            </a:r>
            <a:r>
              <a:rPr sz="3600" spc="-95" dirty="0"/>
              <a:t> </a:t>
            </a:r>
            <a:r>
              <a:rPr sz="3600" dirty="0"/>
              <a:t>Computer</a:t>
            </a:r>
            <a:r>
              <a:rPr sz="3600" spc="-95" dirty="0"/>
              <a:t> </a:t>
            </a:r>
            <a:r>
              <a:rPr sz="3600" dirty="0"/>
              <a:t>Science</a:t>
            </a:r>
            <a:r>
              <a:rPr sz="3600" spc="-100" dirty="0"/>
              <a:t> </a:t>
            </a:r>
            <a:r>
              <a:rPr sz="3600" dirty="0"/>
              <a:t>&amp;</a:t>
            </a:r>
            <a:r>
              <a:rPr sz="3600" spc="-95" dirty="0"/>
              <a:t> </a:t>
            </a:r>
            <a:r>
              <a:rPr sz="3600" spc="-10" dirty="0"/>
              <a:t>Engineering </a:t>
            </a:r>
            <a:r>
              <a:rPr sz="3600" dirty="0"/>
              <a:t>AI</a:t>
            </a:r>
            <a:r>
              <a:rPr sz="3600" spc="-105" dirty="0"/>
              <a:t> </a:t>
            </a:r>
            <a:r>
              <a:rPr sz="3600" dirty="0"/>
              <a:t>Application</a:t>
            </a:r>
            <a:r>
              <a:rPr sz="3600" spc="-100" dirty="0"/>
              <a:t> </a:t>
            </a:r>
            <a:r>
              <a:rPr sz="3600" dirty="0"/>
              <a:t>Development</a:t>
            </a:r>
            <a:r>
              <a:rPr sz="3600" spc="-90" dirty="0"/>
              <a:t> </a:t>
            </a:r>
            <a:r>
              <a:rPr sz="3600" dirty="0"/>
              <a:t>–</a:t>
            </a:r>
            <a:r>
              <a:rPr sz="3600" spc="-90" dirty="0"/>
              <a:t> </a:t>
            </a:r>
            <a:r>
              <a:rPr sz="3600" spc="-25" dirty="0"/>
              <a:t>IA1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527" y="1091691"/>
            <a:ext cx="35553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Team</a:t>
            </a:r>
            <a:r>
              <a:rPr sz="2800" spc="-120" dirty="0"/>
              <a:t> </a:t>
            </a:r>
            <a:r>
              <a:rPr sz="2800" dirty="0"/>
              <a:t>members</a:t>
            </a:r>
            <a:r>
              <a:rPr sz="2800" spc="-120" dirty="0"/>
              <a:t> </a:t>
            </a:r>
            <a:r>
              <a:rPr sz="2800" dirty="0"/>
              <a:t>&amp;</a:t>
            </a:r>
            <a:r>
              <a:rPr sz="2800" spc="-110" dirty="0"/>
              <a:t> </a:t>
            </a:r>
            <a:r>
              <a:rPr sz="2800" spc="-10" dirty="0"/>
              <a:t>roles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3750" y="1763444"/>
            <a:ext cx="5266249" cy="29457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4650" y="2030728"/>
          <a:ext cx="5302884" cy="2664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6940">
                <a:tc>
                  <a:txBody>
                    <a:bodyPr/>
                    <a:lstStyle/>
                    <a:p>
                      <a:pPr marL="1229995" marR="306705">
                        <a:lnSpc>
                          <a:spcPct val="101800"/>
                        </a:lnSpc>
                        <a:spcBef>
                          <a:spcPts val="145"/>
                        </a:spcBef>
                      </a:pPr>
                      <a:r>
                        <a:rPr sz="2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sz="2200" b="1" spc="-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member </a:t>
                      </a:r>
                      <a:r>
                        <a:rPr sz="2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731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Role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Pranjal</a:t>
                      </a:r>
                      <a:r>
                        <a:rPr sz="16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Shastry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Team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Lead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Pranav</a:t>
                      </a:r>
                      <a:r>
                        <a:rPr sz="16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Ajith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1403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Customer</a:t>
                      </a:r>
                      <a:r>
                        <a:rPr sz="16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Contact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Lead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Sajil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Nair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Development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Lead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Rashmi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Test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Lead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Pranav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Prakashan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Developer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309" y="155955"/>
            <a:ext cx="29381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Problem</a:t>
            </a:r>
            <a:r>
              <a:rPr sz="2800" spc="-120" dirty="0"/>
              <a:t> </a:t>
            </a:r>
            <a:r>
              <a:rPr sz="2800" spc="-10" dirty="0"/>
              <a:t>Statement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42098" y="748283"/>
            <a:ext cx="11522710" cy="5088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marR="1926589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Front-</a:t>
            </a:r>
            <a:r>
              <a:rPr sz="2000" dirty="0">
                <a:latin typeface="Times New Roman"/>
                <a:cs typeface="Times New Roman"/>
              </a:rPr>
              <a:t>line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employees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experience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continuous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customer </a:t>
            </a:r>
            <a:r>
              <a:rPr sz="2000" dirty="0">
                <a:latin typeface="Times New Roman"/>
                <a:cs typeface="Times New Roman"/>
              </a:rPr>
              <a:t>interaction,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heavy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workloads,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demanding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targets.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However,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organizations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usually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lack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structured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employee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well-</a:t>
            </a:r>
            <a:r>
              <a:rPr sz="2000" dirty="0">
                <a:latin typeface="Times New Roman"/>
                <a:cs typeface="Times New Roman"/>
              </a:rPr>
              <a:t>being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early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burnout.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aims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AI-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weekly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employee </a:t>
            </a:r>
            <a:r>
              <a:rPr sz="2000" dirty="0">
                <a:latin typeface="Times New Roman"/>
                <a:cs typeface="Times New Roman"/>
              </a:rPr>
              <a:t>feedback,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analyzes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emotional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insights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improve </a:t>
            </a:r>
            <a:r>
              <a:rPr sz="2000" dirty="0">
                <a:latin typeface="Times New Roman"/>
                <a:cs typeface="Times New Roman"/>
              </a:rPr>
              <a:t>employee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well-</a:t>
            </a:r>
            <a:r>
              <a:rPr sz="2000" dirty="0">
                <a:latin typeface="Times New Roman"/>
                <a:cs typeface="Times New Roman"/>
              </a:rPr>
              <a:t>being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workplace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productivity..</a:t>
            </a:r>
            <a:endParaRPr sz="2000">
              <a:latin typeface="Times New Roman"/>
              <a:cs typeface="Times New Roman"/>
            </a:endParaRPr>
          </a:p>
          <a:p>
            <a:pPr marL="149225">
              <a:lnSpc>
                <a:spcPts val="2850"/>
              </a:lnSpc>
              <a:spcBef>
                <a:spcPts val="1040"/>
              </a:spcBef>
            </a:pPr>
            <a:r>
              <a:rPr sz="2400" b="1" spc="-10" dirty="0">
                <a:latin typeface="Times New Roman"/>
                <a:cs typeface="Times New Roman"/>
              </a:rPr>
              <a:t>Summary: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ts val="237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spc="-10" dirty="0">
                <a:latin typeface="Times New Roman"/>
                <a:cs typeface="Times New Roman"/>
              </a:rPr>
              <a:t>Front-</a:t>
            </a:r>
            <a:r>
              <a:rPr sz="2000" dirty="0">
                <a:latin typeface="Times New Roman"/>
                <a:cs typeface="Times New Roman"/>
              </a:rPr>
              <a:t>line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employees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experience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significant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factors: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b="1" dirty="0">
                <a:latin typeface="Times New Roman"/>
                <a:cs typeface="Times New Roman"/>
              </a:rPr>
              <a:t>High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workload: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numerous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tasks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simultaneously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increases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pressure.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b="1" dirty="0">
                <a:latin typeface="Times New Roman"/>
                <a:cs typeface="Times New Roman"/>
              </a:rPr>
              <a:t>Constant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customer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interaction: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Handling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complaints,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queries,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expectations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emotionally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draining.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b="1" dirty="0">
                <a:latin typeface="Times New Roman"/>
                <a:cs typeface="Times New Roman"/>
              </a:rPr>
              <a:t>Irregular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work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hours: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Shift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patterns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overtime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disrupt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work-</a:t>
            </a:r>
            <a:r>
              <a:rPr sz="2000" dirty="0">
                <a:latin typeface="Times New Roman"/>
                <a:cs typeface="Times New Roman"/>
              </a:rPr>
              <a:t>life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balance.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b="1" dirty="0">
                <a:latin typeface="Times New Roman"/>
                <a:cs typeface="Times New Roman"/>
              </a:rPr>
              <a:t>Limited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support: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Lack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guidance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assistance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frustration.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dirty="0">
                <a:latin typeface="Times New Roman"/>
                <a:cs typeface="Times New Roman"/>
              </a:rPr>
              <a:t>Organizations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challenges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employee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well-being: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b="1" dirty="0">
                <a:latin typeface="Times New Roman"/>
                <a:cs typeface="Times New Roman"/>
              </a:rPr>
              <a:t>No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real-</a:t>
            </a:r>
            <a:r>
              <a:rPr sz="2000" b="1" dirty="0">
                <a:latin typeface="Times New Roman"/>
                <a:cs typeface="Times New Roman"/>
              </a:rPr>
              <a:t>time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monitoring: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Absence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track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burnout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occur.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b="1" dirty="0">
                <a:latin typeface="Times New Roman"/>
                <a:cs typeface="Times New Roman"/>
              </a:rPr>
              <a:t>Delayed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intervention: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Issues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attendance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declines.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b="1" dirty="0">
                <a:latin typeface="Times New Roman"/>
                <a:cs typeface="Times New Roman"/>
              </a:rPr>
              <a:t>Lack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personalized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support: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Employees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tailored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patterns.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455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User/</a:t>
            </a:r>
            <a:r>
              <a:rPr sz="2800" spc="-125" dirty="0"/>
              <a:t> </a:t>
            </a:r>
            <a:r>
              <a:rPr sz="2800" spc="-10" dirty="0"/>
              <a:t>Customer</a:t>
            </a:r>
            <a:r>
              <a:rPr sz="2800" spc="-130" dirty="0"/>
              <a:t> </a:t>
            </a:r>
            <a:r>
              <a:rPr sz="2800" spc="-10" dirty="0"/>
              <a:t>Understanding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71078" y="1196340"/>
            <a:ext cx="7658734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Front-</a:t>
            </a:r>
            <a:r>
              <a:rPr sz="2000" dirty="0">
                <a:latin typeface="Times New Roman"/>
                <a:cs typeface="Times New Roman"/>
              </a:rPr>
              <a:t>line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employees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report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weekly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stress, </a:t>
            </a:r>
            <a:r>
              <a:rPr sz="2000" dirty="0">
                <a:latin typeface="Times New Roman"/>
                <a:cs typeface="Times New Roman"/>
              </a:rPr>
              <a:t>workload,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overall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well-</a:t>
            </a:r>
            <a:r>
              <a:rPr sz="2000" dirty="0">
                <a:latin typeface="Times New Roman"/>
                <a:cs typeface="Times New Roman"/>
              </a:rPr>
              <a:t>being.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Managers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insights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0" dirty="0">
                <a:latin typeface="Times New Roman"/>
                <a:cs typeface="Times New Roman"/>
              </a:rPr>
              <a:t> employee </a:t>
            </a:r>
            <a:r>
              <a:rPr sz="2000" dirty="0">
                <a:latin typeface="Times New Roman"/>
                <a:cs typeface="Times New Roman"/>
              </a:rPr>
              <a:t>stress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burnout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risks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teams.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helps </a:t>
            </a:r>
            <a:r>
              <a:rPr sz="2000" dirty="0">
                <a:latin typeface="Times New Roman"/>
                <a:cs typeface="Times New Roman"/>
              </a:rPr>
              <a:t>both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feedback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meaningful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analysis.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71890" y="1325186"/>
            <a:ext cx="3949065" cy="1670685"/>
            <a:chOff x="8071890" y="1325186"/>
            <a:chExt cx="3949065" cy="1670685"/>
          </a:xfrm>
        </p:grpSpPr>
        <p:sp>
          <p:nvSpPr>
            <p:cNvPr id="5" name="object 5"/>
            <p:cNvSpPr/>
            <p:nvPr/>
          </p:nvSpPr>
          <p:spPr>
            <a:xfrm>
              <a:off x="8084590" y="1337886"/>
              <a:ext cx="3923665" cy="835660"/>
            </a:xfrm>
            <a:custGeom>
              <a:avLst/>
              <a:gdLst/>
              <a:ahLst/>
              <a:cxnLst/>
              <a:rect l="l" t="t" r="r" b="b"/>
              <a:pathLst>
                <a:path w="3923665" h="835660">
                  <a:moveTo>
                    <a:pt x="3784043" y="0"/>
                  </a:moveTo>
                  <a:lnTo>
                    <a:pt x="139232" y="0"/>
                  </a:lnTo>
                  <a:lnTo>
                    <a:pt x="95224" y="7098"/>
                  </a:lnTo>
                  <a:lnTo>
                    <a:pt x="57003" y="26863"/>
                  </a:lnTo>
                  <a:lnTo>
                    <a:pt x="26863" y="57003"/>
                  </a:lnTo>
                  <a:lnTo>
                    <a:pt x="7098" y="95224"/>
                  </a:lnTo>
                  <a:lnTo>
                    <a:pt x="0" y="139232"/>
                  </a:lnTo>
                  <a:lnTo>
                    <a:pt x="0" y="696146"/>
                  </a:lnTo>
                  <a:lnTo>
                    <a:pt x="7098" y="740154"/>
                  </a:lnTo>
                  <a:lnTo>
                    <a:pt x="26863" y="778375"/>
                  </a:lnTo>
                  <a:lnTo>
                    <a:pt x="57003" y="808515"/>
                  </a:lnTo>
                  <a:lnTo>
                    <a:pt x="95224" y="828281"/>
                  </a:lnTo>
                  <a:lnTo>
                    <a:pt x="139232" y="835379"/>
                  </a:lnTo>
                  <a:lnTo>
                    <a:pt x="3784043" y="835379"/>
                  </a:lnTo>
                  <a:lnTo>
                    <a:pt x="3828051" y="828281"/>
                  </a:lnTo>
                  <a:lnTo>
                    <a:pt x="3866272" y="808515"/>
                  </a:lnTo>
                  <a:lnTo>
                    <a:pt x="3896412" y="778375"/>
                  </a:lnTo>
                  <a:lnTo>
                    <a:pt x="3916178" y="740154"/>
                  </a:lnTo>
                  <a:lnTo>
                    <a:pt x="3923276" y="696146"/>
                  </a:lnTo>
                  <a:lnTo>
                    <a:pt x="3923276" y="139232"/>
                  </a:lnTo>
                  <a:lnTo>
                    <a:pt x="3916178" y="95224"/>
                  </a:lnTo>
                  <a:lnTo>
                    <a:pt x="3896412" y="57003"/>
                  </a:lnTo>
                  <a:lnTo>
                    <a:pt x="3866272" y="26863"/>
                  </a:lnTo>
                  <a:lnTo>
                    <a:pt x="3828051" y="7098"/>
                  </a:lnTo>
                  <a:lnTo>
                    <a:pt x="3784043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84590" y="1337886"/>
              <a:ext cx="3923665" cy="835660"/>
            </a:xfrm>
            <a:custGeom>
              <a:avLst/>
              <a:gdLst/>
              <a:ahLst/>
              <a:cxnLst/>
              <a:rect l="l" t="t" r="r" b="b"/>
              <a:pathLst>
                <a:path w="3923665" h="835660">
                  <a:moveTo>
                    <a:pt x="0" y="139232"/>
                  </a:moveTo>
                  <a:lnTo>
                    <a:pt x="7098" y="95224"/>
                  </a:lnTo>
                  <a:lnTo>
                    <a:pt x="26863" y="57003"/>
                  </a:lnTo>
                  <a:lnTo>
                    <a:pt x="57003" y="26863"/>
                  </a:lnTo>
                  <a:lnTo>
                    <a:pt x="95224" y="7098"/>
                  </a:lnTo>
                  <a:lnTo>
                    <a:pt x="139232" y="0"/>
                  </a:lnTo>
                  <a:lnTo>
                    <a:pt x="3784044" y="0"/>
                  </a:lnTo>
                  <a:lnTo>
                    <a:pt x="3828052" y="7098"/>
                  </a:lnTo>
                  <a:lnTo>
                    <a:pt x="3866272" y="26863"/>
                  </a:lnTo>
                  <a:lnTo>
                    <a:pt x="3896412" y="57003"/>
                  </a:lnTo>
                  <a:lnTo>
                    <a:pt x="3916177" y="95224"/>
                  </a:lnTo>
                  <a:lnTo>
                    <a:pt x="3923276" y="139232"/>
                  </a:lnTo>
                  <a:lnTo>
                    <a:pt x="3923276" y="696146"/>
                  </a:lnTo>
                  <a:lnTo>
                    <a:pt x="3916177" y="740154"/>
                  </a:lnTo>
                  <a:lnTo>
                    <a:pt x="3896412" y="778375"/>
                  </a:lnTo>
                  <a:lnTo>
                    <a:pt x="3866272" y="808515"/>
                  </a:lnTo>
                  <a:lnTo>
                    <a:pt x="3828052" y="828280"/>
                  </a:lnTo>
                  <a:lnTo>
                    <a:pt x="3784044" y="835379"/>
                  </a:lnTo>
                  <a:lnTo>
                    <a:pt x="139232" y="835379"/>
                  </a:lnTo>
                  <a:lnTo>
                    <a:pt x="95224" y="828280"/>
                  </a:lnTo>
                  <a:lnTo>
                    <a:pt x="57003" y="808515"/>
                  </a:lnTo>
                  <a:lnTo>
                    <a:pt x="26863" y="778375"/>
                  </a:lnTo>
                  <a:lnTo>
                    <a:pt x="7098" y="740154"/>
                  </a:lnTo>
                  <a:lnTo>
                    <a:pt x="0" y="696146"/>
                  </a:lnTo>
                  <a:lnTo>
                    <a:pt x="0" y="13923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4590" y="2147746"/>
              <a:ext cx="3923665" cy="835660"/>
            </a:xfrm>
            <a:custGeom>
              <a:avLst/>
              <a:gdLst/>
              <a:ahLst/>
              <a:cxnLst/>
              <a:rect l="l" t="t" r="r" b="b"/>
              <a:pathLst>
                <a:path w="3923665" h="835660">
                  <a:moveTo>
                    <a:pt x="3784043" y="0"/>
                  </a:moveTo>
                  <a:lnTo>
                    <a:pt x="139232" y="0"/>
                  </a:lnTo>
                  <a:lnTo>
                    <a:pt x="95224" y="7098"/>
                  </a:lnTo>
                  <a:lnTo>
                    <a:pt x="57003" y="26863"/>
                  </a:lnTo>
                  <a:lnTo>
                    <a:pt x="26863" y="57003"/>
                  </a:lnTo>
                  <a:lnTo>
                    <a:pt x="7098" y="95224"/>
                  </a:lnTo>
                  <a:lnTo>
                    <a:pt x="0" y="139232"/>
                  </a:lnTo>
                  <a:lnTo>
                    <a:pt x="0" y="696146"/>
                  </a:lnTo>
                  <a:lnTo>
                    <a:pt x="7098" y="740154"/>
                  </a:lnTo>
                  <a:lnTo>
                    <a:pt x="26863" y="778375"/>
                  </a:lnTo>
                  <a:lnTo>
                    <a:pt x="57003" y="808515"/>
                  </a:lnTo>
                  <a:lnTo>
                    <a:pt x="95224" y="828281"/>
                  </a:lnTo>
                  <a:lnTo>
                    <a:pt x="139232" y="835379"/>
                  </a:lnTo>
                  <a:lnTo>
                    <a:pt x="3784043" y="835379"/>
                  </a:lnTo>
                  <a:lnTo>
                    <a:pt x="3828051" y="828281"/>
                  </a:lnTo>
                  <a:lnTo>
                    <a:pt x="3866272" y="808515"/>
                  </a:lnTo>
                  <a:lnTo>
                    <a:pt x="3896412" y="778375"/>
                  </a:lnTo>
                  <a:lnTo>
                    <a:pt x="3916178" y="740154"/>
                  </a:lnTo>
                  <a:lnTo>
                    <a:pt x="3923276" y="696146"/>
                  </a:lnTo>
                  <a:lnTo>
                    <a:pt x="3923276" y="139232"/>
                  </a:lnTo>
                  <a:lnTo>
                    <a:pt x="3916178" y="95224"/>
                  </a:lnTo>
                  <a:lnTo>
                    <a:pt x="3896412" y="57003"/>
                  </a:lnTo>
                  <a:lnTo>
                    <a:pt x="3866272" y="26863"/>
                  </a:lnTo>
                  <a:lnTo>
                    <a:pt x="3828051" y="7098"/>
                  </a:lnTo>
                  <a:lnTo>
                    <a:pt x="3784043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84590" y="2147746"/>
              <a:ext cx="3923665" cy="835660"/>
            </a:xfrm>
            <a:custGeom>
              <a:avLst/>
              <a:gdLst/>
              <a:ahLst/>
              <a:cxnLst/>
              <a:rect l="l" t="t" r="r" b="b"/>
              <a:pathLst>
                <a:path w="3923665" h="835660">
                  <a:moveTo>
                    <a:pt x="0" y="139232"/>
                  </a:moveTo>
                  <a:lnTo>
                    <a:pt x="7098" y="95224"/>
                  </a:lnTo>
                  <a:lnTo>
                    <a:pt x="26863" y="57003"/>
                  </a:lnTo>
                  <a:lnTo>
                    <a:pt x="57003" y="26863"/>
                  </a:lnTo>
                  <a:lnTo>
                    <a:pt x="95224" y="7098"/>
                  </a:lnTo>
                  <a:lnTo>
                    <a:pt x="139232" y="0"/>
                  </a:lnTo>
                  <a:lnTo>
                    <a:pt x="3784044" y="0"/>
                  </a:lnTo>
                  <a:lnTo>
                    <a:pt x="3828052" y="7098"/>
                  </a:lnTo>
                  <a:lnTo>
                    <a:pt x="3866272" y="26863"/>
                  </a:lnTo>
                  <a:lnTo>
                    <a:pt x="3896412" y="57003"/>
                  </a:lnTo>
                  <a:lnTo>
                    <a:pt x="3916177" y="95224"/>
                  </a:lnTo>
                  <a:lnTo>
                    <a:pt x="3923276" y="139232"/>
                  </a:lnTo>
                  <a:lnTo>
                    <a:pt x="3923276" y="696146"/>
                  </a:lnTo>
                  <a:lnTo>
                    <a:pt x="3916177" y="740154"/>
                  </a:lnTo>
                  <a:lnTo>
                    <a:pt x="3896412" y="778375"/>
                  </a:lnTo>
                  <a:lnTo>
                    <a:pt x="3866272" y="808515"/>
                  </a:lnTo>
                  <a:lnTo>
                    <a:pt x="3828052" y="828280"/>
                  </a:lnTo>
                  <a:lnTo>
                    <a:pt x="3784044" y="835379"/>
                  </a:lnTo>
                  <a:lnTo>
                    <a:pt x="139232" y="835379"/>
                  </a:lnTo>
                  <a:lnTo>
                    <a:pt x="95224" y="828280"/>
                  </a:lnTo>
                  <a:lnTo>
                    <a:pt x="57003" y="808515"/>
                  </a:lnTo>
                  <a:lnTo>
                    <a:pt x="26863" y="778375"/>
                  </a:lnTo>
                  <a:lnTo>
                    <a:pt x="7098" y="740154"/>
                  </a:lnTo>
                  <a:lnTo>
                    <a:pt x="0" y="696146"/>
                  </a:lnTo>
                  <a:lnTo>
                    <a:pt x="0" y="13923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192681" y="1400047"/>
            <a:ext cx="3449320" cy="144589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32130">
              <a:lnSpc>
                <a:spcPts val="2300"/>
              </a:lnSpc>
              <a:spcBef>
                <a:spcPts val="36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Conducted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interviews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employees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ts val="2300"/>
              </a:lnSpc>
              <a:spcBef>
                <a:spcPts val="176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stress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workload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issues identified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071890" y="3030907"/>
            <a:ext cx="3949065" cy="861060"/>
            <a:chOff x="8071890" y="3030907"/>
            <a:chExt cx="3949065" cy="861060"/>
          </a:xfrm>
        </p:grpSpPr>
        <p:sp>
          <p:nvSpPr>
            <p:cNvPr id="11" name="object 11"/>
            <p:cNvSpPr/>
            <p:nvPr/>
          </p:nvSpPr>
          <p:spPr>
            <a:xfrm>
              <a:off x="8084590" y="3043607"/>
              <a:ext cx="3923665" cy="835660"/>
            </a:xfrm>
            <a:custGeom>
              <a:avLst/>
              <a:gdLst/>
              <a:ahLst/>
              <a:cxnLst/>
              <a:rect l="l" t="t" r="r" b="b"/>
              <a:pathLst>
                <a:path w="3923665" h="835660">
                  <a:moveTo>
                    <a:pt x="3784043" y="0"/>
                  </a:moveTo>
                  <a:lnTo>
                    <a:pt x="139232" y="0"/>
                  </a:lnTo>
                  <a:lnTo>
                    <a:pt x="95224" y="7098"/>
                  </a:lnTo>
                  <a:lnTo>
                    <a:pt x="57003" y="26863"/>
                  </a:lnTo>
                  <a:lnTo>
                    <a:pt x="26863" y="57003"/>
                  </a:lnTo>
                  <a:lnTo>
                    <a:pt x="7098" y="95224"/>
                  </a:lnTo>
                  <a:lnTo>
                    <a:pt x="0" y="139232"/>
                  </a:lnTo>
                  <a:lnTo>
                    <a:pt x="0" y="696146"/>
                  </a:lnTo>
                  <a:lnTo>
                    <a:pt x="7098" y="740154"/>
                  </a:lnTo>
                  <a:lnTo>
                    <a:pt x="26863" y="778375"/>
                  </a:lnTo>
                  <a:lnTo>
                    <a:pt x="57003" y="808515"/>
                  </a:lnTo>
                  <a:lnTo>
                    <a:pt x="95224" y="828281"/>
                  </a:lnTo>
                  <a:lnTo>
                    <a:pt x="139232" y="835379"/>
                  </a:lnTo>
                  <a:lnTo>
                    <a:pt x="3784043" y="835379"/>
                  </a:lnTo>
                  <a:lnTo>
                    <a:pt x="3828051" y="828281"/>
                  </a:lnTo>
                  <a:lnTo>
                    <a:pt x="3866272" y="808515"/>
                  </a:lnTo>
                  <a:lnTo>
                    <a:pt x="3896412" y="778375"/>
                  </a:lnTo>
                  <a:lnTo>
                    <a:pt x="3916178" y="740154"/>
                  </a:lnTo>
                  <a:lnTo>
                    <a:pt x="3923276" y="696146"/>
                  </a:lnTo>
                  <a:lnTo>
                    <a:pt x="3923276" y="139232"/>
                  </a:lnTo>
                  <a:lnTo>
                    <a:pt x="3916178" y="95224"/>
                  </a:lnTo>
                  <a:lnTo>
                    <a:pt x="3896412" y="57003"/>
                  </a:lnTo>
                  <a:lnTo>
                    <a:pt x="3866272" y="26863"/>
                  </a:lnTo>
                  <a:lnTo>
                    <a:pt x="3828051" y="7098"/>
                  </a:lnTo>
                  <a:lnTo>
                    <a:pt x="3784043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84590" y="3043607"/>
              <a:ext cx="3923665" cy="835660"/>
            </a:xfrm>
            <a:custGeom>
              <a:avLst/>
              <a:gdLst/>
              <a:ahLst/>
              <a:cxnLst/>
              <a:rect l="l" t="t" r="r" b="b"/>
              <a:pathLst>
                <a:path w="3923665" h="835660">
                  <a:moveTo>
                    <a:pt x="0" y="139232"/>
                  </a:moveTo>
                  <a:lnTo>
                    <a:pt x="7098" y="95224"/>
                  </a:lnTo>
                  <a:lnTo>
                    <a:pt x="26863" y="57003"/>
                  </a:lnTo>
                  <a:lnTo>
                    <a:pt x="57003" y="26863"/>
                  </a:lnTo>
                  <a:lnTo>
                    <a:pt x="95224" y="7098"/>
                  </a:lnTo>
                  <a:lnTo>
                    <a:pt x="139232" y="0"/>
                  </a:lnTo>
                  <a:lnTo>
                    <a:pt x="3784044" y="0"/>
                  </a:lnTo>
                  <a:lnTo>
                    <a:pt x="3828052" y="7098"/>
                  </a:lnTo>
                  <a:lnTo>
                    <a:pt x="3866272" y="26863"/>
                  </a:lnTo>
                  <a:lnTo>
                    <a:pt x="3896412" y="57003"/>
                  </a:lnTo>
                  <a:lnTo>
                    <a:pt x="3916177" y="95224"/>
                  </a:lnTo>
                  <a:lnTo>
                    <a:pt x="3923276" y="139232"/>
                  </a:lnTo>
                  <a:lnTo>
                    <a:pt x="3923276" y="696146"/>
                  </a:lnTo>
                  <a:lnTo>
                    <a:pt x="3916177" y="740154"/>
                  </a:lnTo>
                  <a:lnTo>
                    <a:pt x="3896412" y="778375"/>
                  </a:lnTo>
                  <a:lnTo>
                    <a:pt x="3866272" y="808515"/>
                  </a:lnTo>
                  <a:lnTo>
                    <a:pt x="3828052" y="828280"/>
                  </a:lnTo>
                  <a:lnTo>
                    <a:pt x="3784044" y="835379"/>
                  </a:lnTo>
                  <a:lnTo>
                    <a:pt x="139232" y="835379"/>
                  </a:lnTo>
                  <a:lnTo>
                    <a:pt x="95224" y="828280"/>
                  </a:lnTo>
                  <a:lnTo>
                    <a:pt x="57003" y="808515"/>
                  </a:lnTo>
                  <a:lnTo>
                    <a:pt x="26863" y="778375"/>
                  </a:lnTo>
                  <a:lnTo>
                    <a:pt x="7098" y="740154"/>
                  </a:lnTo>
                  <a:lnTo>
                    <a:pt x="0" y="696146"/>
                  </a:lnTo>
                  <a:lnTo>
                    <a:pt x="0" y="13923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92681" y="3250184"/>
            <a:ext cx="33813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structured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feedback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71890" y="3926767"/>
            <a:ext cx="3949065" cy="861060"/>
            <a:chOff x="8071890" y="3926767"/>
            <a:chExt cx="3949065" cy="861060"/>
          </a:xfrm>
        </p:grpSpPr>
        <p:sp>
          <p:nvSpPr>
            <p:cNvPr id="15" name="object 15"/>
            <p:cNvSpPr/>
            <p:nvPr/>
          </p:nvSpPr>
          <p:spPr>
            <a:xfrm>
              <a:off x="8084590" y="3939467"/>
              <a:ext cx="3923665" cy="835660"/>
            </a:xfrm>
            <a:custGeom>
              <a:avLst/>
              <a:gdLst/>
              <a:ahLst/>
              <a:cxnLst/>
              <a:rect l="l" t="t" r="r" b="b"/>
              <a:pathLst>
                <a:path w="3923665" h="835660">
                  <a:moveTo>
                    <a:pt x="3784043" y="0"/>
                  </a:moveTo>
                  <a:lnTo>
                    <a:pt x="139232" y="0"/>
                  </a:lnTo>
                  <a:lnTo>
                    <a:pt x="95224" y="7098"/>
                  </a:lnTo>
                  <a:lnTo>
                    <a:pt x="57003" y="26863"/>
                  </a:lnTo>
                  <a:lnTo>
                    <a:pt x="26863" y="57003"/>
                  </a:lnTo>
                  <a:lnTo>
                    <a:pt x="7098" y="95223"/>
                  </a:lnTo>
                  <a:lnTo>
                    <a:pt x="0" y="139232"/>
                  </a:lnTo>
                  <a:lnTo>
                    <a:pt x="0" y="696145"/>
                  </a:lnTo>
                  <a:lnTo>
                    <a:pt x="7098" y="740153"/>
                  </a:lnTo>
                  <a:lnTo>
                    <a:pt x="26863" y="778374"/>
                  </a:lnTo>
                  <a:lnTo>
                    <a:pt x="57003" y="808514"/>
                  </a:lnTo>
                  <a:lnTo>
                    <a:pt x="95224" y="828279"/>
                  </a:lnTo>
                  <a:lnTo>
                    <a:pt x="139232" y="835378"/>
                  </a:lnTo>
                  <a:lnTo>
                    <a:pt x="3784043" y="835378"/>
                  </a:lnTo>
                  <a:lnTo>
                    <a:pt x="3828051" y="828279"/>
                  </a:lnTo>
                  <a:lnTo>
                    <a:pt x="3866272" y="808514"/>
                  </a:lnTo>
                  <a:lnTo>
                    <a:pt x="3896412" y="778374"/>
                  </a:lnTo>
                  <a:lnTo>
                    <a:pt x="3916178" y="740153"/>
                  </a:lnTo>
                  <a:lnTo>
                    <a:pt x="3923276" y="696145"/>
                  </a:lnTo>
                  <a:lnTo>
                    <a:pt x="3923276" y="139232"/>
                  </a:lnTo>
                  <a:lnTo>
                    <a:pt x="3916178" y="95223"/>
                  </a:lnTo>
                  <a:lnTo>
                    <a:pt x="3896412" y="57003"/>
                  </a:lnTo>
                  <a:lnTo>
                    <a:pt x="3866272" y="26863"/>
                  </a:lnTo>
                  <a:lnTo>
                    <a:pt x="3828051" y="7098"/>
                  </a:lnTo>
                  <a:lnTo>
                    <a:pt x="3784043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84590" y="3939467"/>
              <a:ext cx="3923665" cy="835660"/>
            </a:xfrm>
            <a:custGeom>
              <a:avLst/>
              <a:gdLst/>
              <a:ahLst/>
              <a:cxnLst/>
              <a:rect l="l" t="t" r="r" b="b"/>
              <a:pathLst>
                <a:path w="3923665" h="835660">
                  <a:moveTo>
                    <a:pt x="0" y="139232"/>
                  </a:moveTo>
                  <a:lnTo>
                    <a:pt x="7098" y="95224"/>
                  </a:lnTo>
                  <a:lnTo>
                    <a:pt x="26863" y="57003"/>
                  </a:lnTo>
                  <a:lnTo>
                    <a:pt x="57003" y="26863"/>
                  </a:lnTo>
                  <a:lnTo>
                    <a:pt x="95224" y="7098"/>
                  </a:lnTo>
                  <a:lnTo>
                    <a:pt x="139232" y="0"/>
                  </a:lnTo>
                  <a:lnTo>
                    <a:pt x="3784044" y="0"/>
                  </a:lnTo>
                  <a:lnTo>
                    <a:pt x="3828052" y="7098"/>
                  </a:lnTo>
                  <a:lnTo>
                    <a:pt x="3866272" y="26863"/>
                  </a:lnTo>
                  <a:lnTo>
                    <a:pt x="3896412" y="57003"/>
                  </a:lnTo>
                  <a:lnTo>
                    <a:pt x="3916177" y="95224"/>
                  </a:lnTo>
                  <a:lnTo>
                    <a:pt x="3923276" y="139232"/>
                  </a:lnTo>
                  <a:lnTo>
                    <a:pt x="3923276" y="696146"/>
                  </a:lnTo>
                  <a:lnTo>
                    <a:pt x="3916177" y="740154"/>
                  </a:lnTo>
                  <a:lnTo>
                    <a:pt x="3896412" y="778375"/>
                  </a:lnTo>
                  <a:lnTo>
                    <a:pt x="3866272" y="808515"/>
                  </a:lnTo>
                  <a:lnTo>
                    <a:pt x="3828052" y="828280"/>
                  </a:lnTo>
                  <a:lnTo>
                    <a:pt x="3784044" y="835379"/>
                  </a:lnTo>
                  <a:lnTo>
                    <a:pt x="139232" y="835379"/>
                  </a:lnTo>
                  <a:lnTo>
                    <a:pt x="95224" y="828280"/>
                  </a:lnTo>
                  <a:lnTo>
                    <a:pt x="57003" y="808515"/>
                  </a:lnTo>
                  <a:lnTo>
                    <a:pt x="26863" y="778375"/>
                  </a:lnTo>
                  <a:lnTo>
                    <a:pt x="7098" y="740154"/>
                  </a:lnTo>
                  <a:lnTo>
                    <a:pt x="0" y="696146"/>
                  </a:lnTo>
                  <a:lnTo>
                    <a:pt x="0" y="13923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192681" y="4146295"/>
            <a:ext cx="25228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Managers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lack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visibility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2872" y="2666491"/>
            <a:ext cx="7731125" cy="277812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309245" indent="-10160">
              <a:lnSpc>
                <a:spcPct val="102200"/>
              </a:lnSpc>
              <a:spcBef>
                <a:spcPts val="50"/>
              </a:spcBef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	Real-</a:t>
            </a:r>
            <a:r>
              <a:rPr sz="1800" b="1" dirty="0">
                <a:latin typeface="Times New Roman"/>
                <a:cs typeface="Times New Roman"/>
              </a:rPr>
              <a:t>time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tracking: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Continuous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helps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identify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stress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patterns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early, </a:t>
            </a:r>
            <a:r>
              <a:rPr sz="1800" dirty="0">
                <a:latin typeface="Times New Roman"/>
                <a:cs typeface="Times New Roman"/>
              </a:rPr>
              <a:t>preventing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burnout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before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escalates.</a:t>
            </a:r>
            <a:endParaRPr sz="1800">
              <a:latin typeface="Times New Roman"/>
              <a:cs typeface="Times New Roman"/>
            </a:endParaRPr>
          </a:p>
          <a:p>
            <a:pPr marL="12700" marR="112395" indent="-10160">
              <a:lnSpc>
                <a:spcPts val="2090"/>
              </a:lnSpc>
              <a:spcBef>
                <a:spcPts val="175"/>
              </a:spcBef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sz="1800" b="1" dirty="0">
                <a:latin typeface="Times New Roman"/>
                <a:cs typeface="Times New Roman"/>
              </a:rPr>
              <a:t>	Simple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weekly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reporting: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Employees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easily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stress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levels,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workload,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overall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well-</a:t>
            </a:r>
            <a:r>
              <a:rPr sz="1800" dirty="0">
                <a:latin typeface="Times New Roman"/>
                <a:cs typeface="Times New Roman"/>
              </a:rPr>
              <a:t>being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without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disrupting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daily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tasks.</a:t>
            </a:r>
            <a:endParaRPr sz="1800">
              <a:latin typeface="Times New Roman"/>
              <a:cs typeface="Times New Roman"/>
            </a:endParaRPr>
          </a:p>
          <a:p>
            <a:pPr marL="12700" marR="5080" indent="-10160">
              <a:lnSpc>
                <a:spcPts val="2090"/>
              </a:lnSpc>
              <a:spcBef>
                <a:spcPts val="120"/>
              </a:spcBef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sz="1800" b="1" dirty="0">
                <a:latin typeface="Times New Roman"/>
                <a:cs typeface="Times New Roman"/>
              </a:rPr>
              <a:t>	Insightful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manager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dashboards: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Managers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clear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visualizations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summaries,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making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easier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understand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team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well-</a:t>
            </a:r>
            <a:r>
              <a:rPr sz="1800" dirty="0">
                <a:latin typeface="Times New Roman"/>
                <a:cs typeface="Times New Roman"/>
              </a:rPr>
              <a:t>being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glance.</a:t>
            </a:r>
            <a:endParaRPr sz="1800">
              <a:latin typeface="Times New Roman"/>
              <a:cs typeface="Times New Roman"/>
            </a:endParaRPr>
          </a:p>
          <a:p>
            <a:pPr marL="12700" marR="417195" indent="-10160">
              <a:lnSpc>
                <a:spcPts val="2210"/>
              </a:lnSpc>
              <a:spcBef>
                <a:spcPts val="20"/>
              </a:spcBef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sz="1800" b="1" dirty="0">
                <a:latin typeface="Times New Roman"/>
                <a:cs typeface="Times New Roman"/>
              </a:rPr>
              <a:t>	Proactive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interventions: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Early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identification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high-</a:t>
            </a:r>
            <a:r>
              <a:rPr sz="1800" dirty="0">
                <a:latin typeface="Times New Roman"/>
                <a:cs typeface="Times New Roman"/>
              </a:rPr>
              <a:t>risk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individuals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teams </a:t>
            </a:r>
            <a:r>
              <a:rPr sz="1800" dirty="0">
                <a:latin typeface="Times New Roman"/>
                <a:cs typeface="Times New Roman"/>
              </a:rPr>
              <a:t>enables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timely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support,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workload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adjustments,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wellness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resources.</a:t>
            </a: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ts val="2005"/>
              </a:lnSpc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sz="1800" b="1" dirty="0">
                <a:latin typeface="Times New Roman"/>
                <a:cs typeface="Times New Roman"/>
              </a:rPr>
              <a:t>Improved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team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performance: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Better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support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result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higher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Times New Roman"/>
                <a:cs typeface="Times New Roman"/>
              </a:rPr>
              <a:t>productivity,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morale,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job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satisfaction.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54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Ideal</a:t>
            </a:r>
            <a:r>
              <a:rPr sz="2800" spc="-125" dirty="0"/>
              <a:t> </a:t>
            </a:r>
            <a:r>
              <a:rPr sz="2800" spc="-10" dirty="0"/>
              <a:t>Customer</a:t>
            </a:r>
            <a:r>
              <a:rPr sz="2800" spc="-130" dirty="0"/>
              <a:t> </a:t>
            </a:r>
            <a:r>
              <a:rPr sz="2800" dirty="0"/>
              <a:t>Profile</a:t>
            </a:r>
            <a:r>
              <a:rPr sz="2800" spc="-120" dirty="0"/>
              <a:t> </a:t>
            </a:r>
            <a:r>
              <a:rPr sz="2800" spc="-10" dirty="0"/>
              <a:t>(ICP)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215900" y="1148220"/>
            <a:ext cx="2716530" cy="1879600"/>
            <a:chOff x="215900" y="1148220"/>
            <a:chExt cx="2716530" cy="1879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054" y="1160920"/>
              <a:ext cx="2663963" cy="18540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8600" y="1160920"/>
              <a:ext cx="2691130" cy="1854200"/>
            </a:xfrm>
            <a:custGeom>
              <a:avLst/>
              <a:gdLst/>
              <a:ahLst/>
              <a:cxnLst/>
              <a:rect l="l" t="t" r="r" b="b"/>
              <a:pathLst>
                <a:path w="2691130" h="1854200">
                  <a:moveTo>
                    <a:pt x="0" y="309009"/>
                  </a:moveTo>
                  <a:lnTo>
                    <a:pt x="3350" y="263346"/>
                  </a:lnTo>
                  <a:lnTo>
                    <a:pt x="13083" y="219763"/>
                  </a:lnTo>
                  <a:lnTo>
                    <a:pt x="28720" y="178738"/>
                  </a:lnTo>
                  <a:lnTo>
                    <a:pt x="49783" y="140750"/>
                  </a:lnTo>
                  <a:lnTo>
                    <a:pt x="75794" y="106276"/>
                  </a:lnTo>
                  <a:lnTo>
                    <a:pt x="106276" y="75794"/>
                  </a:lnTo>
                  <a:lnTo>
                    <a:pt x="140750" y="49783"/>
                  </a:lnTo>
                  <a:lnTo>
                    <a:pt x="178738" y="28720"/>
                  </a:lnTo>
                  <a:lnTo>
                    <a:pt x="219763" y="13083"/>
                  </a:lnTo>
                  <a:lnTo>
                    <a:pt x="263345" y="3350"/>
                  </a:lnTo>
                  <a:lnTo>
                    <a:pt x="309008" y="0"/>
                  </a:lnTo>
                  <a:lnTo>
                    <a:pt x="2381863" y="0"/>
                  </a:lnTo>
                  <a:lnTo>
                    <a:pt x="2427526" y="3350"/>
                  </a:lnTo>
                  <a:lnTo>
                    <a:pt x="2471108" y="13083"/>
                  </a:lnTo>
                  <a:lnTo>
                    <a:pt x="2512133" y="28720"/>
                  </a:lnTo>
                  <a:lnTo>
                    <a:pt x="2550121" y="49783"/>
                  </a:lnTo>
                  <a:lnTo>
                    <a:pt x="2584595" y="75794"/>
                  </a:lnTo>
                  <a:lnTo>
                    <a:pt x="2615077" y="106276"/>
                  </a:lnTo>
                  <a:lnTo>
                    <a:pt x="2641088" y="140750"/>
                  </a:lnTo>
                  <a:lnTo>
                    <a:pt x="2662151" y="178738"/>
                  </a:lnTo>
                  <a:lnTo>
                    <a:pt x="2677788" y="219763"/>
                  </a:lnTo>
                  <a:lnTo>
                    <a:pt x="2687521" y="263346"/>
                  </a:lnTo>
                  <a:lnTo>
                    <a:pt x="2690872" y="309009"/>
                  </a:lnTo>
                  <a:lnTo>
                    <a:pt x="2690872" y="1545002"/>
                  </a:lnTo>
                  <a:lnTo>
                    <a:pt x="2687521" y="1590665"/>
                  </a:lnTo>
                  <a:lnTo>
                    <a:pt x="2677788" y="1634247"/>
                  </a:lnTo>
                  <a:lnTo>
                    <a:pt x="2662151" y="1675272"/>
                  </a:lnTo>
                  <a:lnTo>
                    <a:pt x="2641088" y="1713260"/>
                  </a:lnTo>
                  <a:lnTo>
                    <a:pt x="2615077" y="1747734"/>
                  </a:lnTo>
                  <a:lnTo>
                    <a:pt x="2584595" y="1778216"/>
                  </a:lnTo>
                  <a:lnTo>
                    <a:pt x="2550121" y="1804227"/>
                  </a:lnTo>
                  <a:lnTo>
                    <a:pt x="2512133" y="1825290"/>
                  </a:lnTo>
                  <a:lnTo>
                    <a:pt x="2471108" y="1840927"/>
                  </a:lnTo>
                  <a:lnTo>
                    <a:pt x="2427526" y="1850660"/>
                  </a:lnTo>
                  <a:lnTo>
                    <a:pt x="2381863" y="1854011"/>
                  </a:lnTo>
                  <a:lnTo>
                    <a:pt x="309008" y="1854011"/>
                  </a:lnTo>
                  <a:lnTo>
                    <a:pt x="263345" y="1850660"/>
                  </a:lnTo>
                  <a:lnTo>
                    <a:pt x="219763" y="1840927"/>
                  </a:lnTo>
                  <a:lnTo>
                    <a:pt x="178738" y="1825290"/>
                  </a:lnTo>
                  <a:lnTo>
                    <a:pt x="140750" y="1804227"/>
                  </a:lnTo>
                  <a:lnTo>
                    <a:pt x="106276" y="1778216"/>
                  </a:lnTo>
                  <a:lnTo>
                    <a:pt x="75794" y="1747734"/>
                  </a:lnTo>
                  <a:lnTo>
                    <a:pt x="49783" y="1713260"/>
                  </a:lnTo>
                  <a:lnTo>
                    <a:pt x="28720" y="1675272"/>
                  </a:lnTo>
                  <a:lnTo>
                    <a:pt x="13083" y="1634247"/>
                  </a:lnTo>
                  <a:lnTo>
                    <a:pt x="3350" y="1590665"/>
                  </a:lnTo>
                  <a:lnTo>
                    <a:pt x="0" y="1545002"/>
                  </a:lnTo>
                  <a:lnTo>
                    <a:pt x="0" y="30900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15471" y="3314699"/>
            <a:ext cx="2416175" cy="242760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400" dirty="0">
                <a:latin typeface="Calibri"/>
                <a:cs typeface="Calibri"/>
              </a:rPr>
              <a:t>NAME: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pragya</a:t>
            </a:r>
            <a:endParaRPr sz="1400">
              <a:latin typeface="Calibri"/>
              <a:cs typeface="Calibri"/>
            </a:endParaRPr>
          </a:p>
          <a:p>
            <a:pPr marL="12700" marR="710565">
              <a:lnSpc>
                <a:spcPct val="137100"/>
              </a:lnSpc>
            </a:pPr>
            <a:r>
              <a:rPr sz="1400" spc="-25" dirty="0">
                <a:latin typeface="Calibri"/>
                <a:cs typeface="Calibri"/>
              </a:rPr>
              <a:t>Target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Users: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sales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staff </a:t>
            </a:r>
            <a:r>
              <a:rPr sz="1400" dirty="0">
                <a:latin typeface="Calibri"/>
                <a:cs typeface="Calibri"/>
              </a:rPr>
              <a:t>Age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Group: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35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years</a:t>
            </a:r>
            <a:endParaRPr sz="1400">
              <a:latin typeface="Calibri"/>
              <a:cs typeface="Calibri"/>
            </a:endParaRPr>
          </a:p>
          <a:p>
            <a:pPr marL="12700" marR="447040">
              <a:lnSpc>
                <a:spcPct val="101400"/>
              </a:lnSpc>
              <a:spcBef>
                <a:spcPts val="575"/>
              </a:spcBef>
            </a:pPr>
            <a:r>
              <a:rPr sz="1400" spc="-10" dirty="0">
                <a:latin typeface="Calibri"/>
                <a:cs typeface="Calibri"/>
              </a:rPr>
              <a:t>Work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Environment: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service industries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400" spc="-10" dirty="0">
                <a:latin typeface="Calibri"/>
                <a:cs typeface="Calibri"/>
              </a:rPr>
              <a:t>Responsibilities:,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meeting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targets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1400"/>
              </a:lnSpc>
              <a:spcBef>
                <a:spcPts val="600"/>
              </a:spcBef>
            </a:pPr>
            <a:r>
              <a:rPr sz="1400" dirty="0">
                <a:latin typeface="Calibri"/>
                <a:cs typeface="Calibri"/>
              </a:rPr>
              <a:t>Needs: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simple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report </a:t>
            </a:r>
            <a:r>
              <a:rPr sz="1400" dirty="0">
                <a:latin typeface="Calibri"/>
                <a:cs typeface="Calibri"/>
              </a:rPr>
              <a:t>weekly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work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experience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dirty="0">
                <a:latin typeface="Calibri"/>
                <a:cs typeface="Calibri"/>
              </a:rPr>
              <a:t>monitor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stress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well-</a:t>
            </a:r>
            <a:r>
              <a:rPr sz="1400" spc="-20" dirty="0">
                <a:latin typeface="Calibri"/>
                <a:cs typeface="Calibri"/>
              </a:rPr>
              <a:t>being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87707" y="1130070"/>
            <a:ext cx="2716530" cy="1879600"/>
            <a:chOff x="3187707" y="1130070"/>
            <a:chExt cx="2716530" cy="18796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0407" y="1142770"/>
              <a:ext cx="2690872" cy="185401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00407" y="1142770"/>
              <a:ext cx="2691130" cy="1854200"/>
            </a:xfrm>
            <a:custGeom>
              <a:avLst/>
              <a:gdLst/>
              <a:ahLst/>
              <a:cxnLst/>
              <a:rect l="l" t="t" r="r" b="b"/>
              <a:pathLst>
                <a:path w="2691129" h="1854200">
                  <a:moveTo>
                    <a:pt x="0" y="309009"/>
                  </a:moveTo>
                  <a:lnTo>
                    <a:pt x="3350" y="263346"/>
                  </a:lnTo>
                  <a:lnTo>
                    <a:pt x="13083" y="219763"/>
                  </a:lnTo>
                  <a:lnTo>
                    <a:pt x="28720" y="178738"/>
                  </a:lnTo>
                  <a:lnTo>
                    <a:pt x="49783" y="140750"/>
                  </a:lnTo>
                  <a:lnTo>
                    <a:pt x="75794" y="106276"/>
                  </a:lnTo>
                  <a:lnTo>
                    <a:pt x="106276" y="75794"/>
                  </a:lnTo>
                  <a:lnTo>
                    <a:pt x="140750" y="49783"/>
                  </a:lnTo>
                  <a:lnTo>
                    <a:pt x="178738" y="28720"/>
                  </a:lnTo>
                  <a:lnTo>
                    <a:pt x="219763" y="13083"/>
                  </a:lnTo>
                  <a:lnTo>
                    <a:pt x="263345" y="3350"/>
                  </a:lnTo>
                  <a:lnTo>
                    <a:pt x="309008" y="0"/>
                  </a:lnTo>
                  <a:lnTo>
                    <a:pt x="2381863" y="0"/>
                  </a:lnTo>
                  <a:lnTo>
                    <a:pt x="2427526" y="3350"/>
                  </a:lnTo>
                  <a:lnTo>
                    <a:pt x="2471108" y="13083"/>
                  </a:lnTo>
                  <a:lnTo>
                    <a:pt x="2512133" y="28720"/>
                  </a:lnTo>
                  <a:lnTo>
                    <a:pt x="2550121" y="49783"/>
                  </a:lnTo>
                  <a:lnTo>
                    <a:pt x="2584595" y="75794"/>
                  </a:lnTo>
                  <a:lnTo>
                    <a:pt x="2615077" y="106276"/>
                  </a:lnTo>
                  <a:lnTo>
                    <a:pt x="2641088" y="140750"/>
                  </a:lnTo>
                  <a:lnTo>
                    <a:pt x="2662151" y="178738"/>
                  </a:lnTo>
                  <a:lnTo>
                    <a:pt x="2677788" y="219763"/>
                  </a:lnTo>
                  <a:lnTo>
                    <a:pt x="2687521" y="263346"/>
                  </a:lnTo>
                  <a:lnTo>
                    <a:pt x="2690872" y="309009"/>
                  </a:lnTo>
                  <a:lnTo>
                    <a:pt x="2690872" y="1545002"/>
                  </a:lnTo>
                  <a:lnTo>
                    <a:pt x="2687521" y="1590665"/>
                  </a:lnTo>
                  <a:lnTo>
                    <a:pt x="2677788" y="1634247"/>
                  </a:lnTo>
                  <a:lnTo>
                    <a:pt x="2662151" y="1675272"/>
                  </a:lnTo>
                  <a:lnTo>
                    <a:pt x="2641088" y="1713260"/>
                  </a:lnTo>
                  <a:lnTo>
                    <a:pt x="2615077" y="1747734"/>
                  </a:lnTo>
                  <a:lnTo>
                    <a:pt x="2584595" y="1778216"/>
                  </a:lnTo>
                  <a:lnTo>
                    <a:pt x="2550121" y="1804227"/>
                  </a:lnTo>
                  <a:lnTo>
                    <a:pt x="2512133" y="1825290"/>
                  </a:lnTo>
                  <a:lnTo>
                    <a:pt x="2471108" y="1840927"/>
                  </a:lnTo>
                  <a:lnTo>
                    <a:pt x="2427526" y="1850660"/>
                  </a:lnTo>
                  <a:lnTo>
                    <a:pt x="2381863" y="1854011"/>
                  </a:lnTo>
                  <a:lnTo>
                    <a:pt x="309008" y="1854011"/>
                  </a:lnTo>
                  <a:lnTo>
                    <a:pt x="263345" y="1850660"/>
                  </a:lnTo>
                  <a:lnTo>
                    <a:pt x="219763" y="1840927"/>
                  </a:lnTo>
                  <a:lnTo>
                    <a:pt x="178738" y="1825290"/>
                  </a:lnTo>
                  <a:lnTo>
                    <a:pt x="140750" y="1804227"/>
                  </a:lnTo>
                  <a:lnTo>
                    <a:pt x="106276" y="1778216"/>
                  </a:lnTo>
                  <a:lnTo>
                    <a:pt x="75794" y="1747734"/>
                  </a:lnTo>
                  <a:lnTo>
                    <a:pt x="49783" y="1713260"/>
                  </a:lnTo>
                  <a:lnTo>
                    <a:pt x="28720" y="1675272"/>
                  </a:lnTo>
                  <a:lnTo>
                    <a:pt x="13083" y="1634247"/>
                  </a:lnTo>
                  <a:lnTo>
                    <a:pt x="3350" y="1590665"/>
                  </a:lnTo>
                  <a:lnTo>
                    <a:pt x="0" y="1545002"/>
                  </a:lnTo>
                  <a:lnTo>
                    <a:pt x="0" y="30900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87275" y="3314699"/>
            <a:ext cx="2414905" cy="205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39165">
              <a:lnSpc>
                <a:spcPct val="1371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NAME:meghana</a:t>
            </a:r>
            <a:r>
              <a:rPr sz="1400" spc="5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Age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Group: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24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years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699"/>
              </a:lnSpc>
              <a:spcBef>
                <a:spcPts val="610"/>
              </a:spcBef>
            </a:pPr>
            <a:r>
              <a:rPr sz="1400" spc="-10" dirty="0">
                <a:latin typeface="Calibri"/>
                <a:cs typeface="Calibri"/>
              </a:rPr>
              <a:t>Work: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Junior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Software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Engineer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/ </a:t>
            </a:r>
            <a:r>
              <a:rPr sz="1400" spc="-10" dirty="0">
                <a:latin typeface="Calibri"/>
                <a:cs typeface="Calibri"/>
              </a:rPr>
              <a:t>Developer </a:t>
            </a:r>
            <a:r>
              <a:rPr sz="1400" dirty="0">
                <a:latin typeface="Calibri"/>
                <a:cs typeface="Calibri"/>
              </a:rPr>
              <a:t>(SDE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I).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Much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day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spent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writing,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debugging,</a:t>
            </a:r>
            <a:endParaRPr sz="1400">
              <a:latin typeface="Calibri"/>
              <a:cs typeface="Calibri"/>
            </a:endParaRPr>
          </a:p>
          <a:p>
            <a:pPr marL="12700" marR="263525">
              <a:lnSpc>
                <a:spcPct val="101400"/>
              </a:lnSpc>
              <a:spcBef>
                <a:spcPts val="600"/>
              </a:spcBef>
            </a:pPr>
            <a:r>
              <a:rPr sz="1400" spc="-10" dirty="0">
                <a:latin typeface="Calibri"/>
                <a:cs typeface="Calibri"/>
              </a:rPr>
              <a:t>Responsibilities</a:t>
            </a:r>
            <a:r>
              <a:rPr sz="1400" b="1" spc="-10" dirty="0">
                <a:latin typeface="Calibri"/>
                <a:cs typeface="Calibri"/>
              </a:rPr>
              <a:t>:</a:t>
            </a:r>
            <a:r>
              <a:rPr sz="1400" spc="-10" dirty="0">
                <a:latin typeface="Calibri"/>
                <a:cs typeface="Calibri"/>
              </a:rPr>
              <a:t>Participating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reviews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learn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team </a:t>
            </a:r>
            <a:r>
              <a:rPr sz="1400" spc="-10" dirty="0">
                <a:latin typeface="Calibri"/>
                <a:cs typeface="Calibri"/>
              </a:rPr>
              <a:t>standards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best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practices.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59486" y="1130070"/>
            <a:ext cx="2716530" cy="1879600"/>
            <a:chOff x="6159486" y="1130070"/>
            <a:chExt cx="2716530" cy="187960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2186" y="1142770"/>
              <a:ext cx="2690872" cy="185401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172186" y="1142770"/>
              <a:ext cx="2691130" cy="1854200"/>
            </a:xfrm>
            <a:custGeom>
              <a:avLst/>
              <a:gdLst/>
              <a:ahLst/>
              <a:cxnLst/>
              <a:rect l="l" t="t" r="r" b="b"/>
              <a:pathLst>
                <a:path w="2691129" h="1854200">
                  <a:moveTo>
                    <a:pt x="0" y="309009"/>
                  </a:moveTo>
                  <a:lnTo>
                    <a:pt x="3350" y="263346"/>
                  </a:lnTo>
                  <a:lnTo>
                    <a:pt x="13083" y="219763"/>
                  </a:lnTo>
                  <a:lnTo>
                    <a:pt x="28720" y="178738"/>
                  </a:lnTo>
                  <a:lnTo>
                    <a:pt x="49783" y="140750"/>
                  </a:lnTo>
                  <a:lnTo>
                    <a:pt x="75794" y="106276"/>
                  </a:lnTo>
                  <a:lnTo>
                    <a:pt x="106276" y="75794"/>
                  </a:lnTo>
                  <a:lnTo>
                    <a:pt x="140750" y="49783"/>
                  </a:lnTo>
                  <a:lnTo>
                    <a:pt x="178738" y="28720"/>
                  </a:lnTo>
                  <a:lnTo>
                    <a:pt x="219763" y="13083"/>
                  </a:lnTo>
                  <a:lnTo>
                    <a:pt x="263345" y="3350"/>
                  </a:lnTo>
                  <a:lnTo>
                    <a:pt x="309008" y="0"/>
                  </a:lnTo>
                  <a:lnTo>
                    <a:pt x="2381863" y="0"/>
                  </a:lnTo>
                  <a:lnTo>
                    <a:pt x="2427526" y="3350"/>
                  </a:lnTo>
                  <a:lnTo>
                    <a:pt x="2471108" y="13083"/>
                  </a:lnTo>
                  <a:lnTo>
                    <a:pt x="2512133" y="28720"/>
                  </a:lnTo>
                  <a:lnTo>
                    <a:pt x="2550121" y="49783"/>
                  </a:lnTo>
                  <a:lnTo>
                    <a:pt x="2584595" y="75794"/>
                  </a:lnTo>
                  <a:lnTo>
                    <a:pt x="2615077" y="106276"/>
                  </a:lnTo>
                  <a:lnTo>
                    <a:pt x="2641088" y="140750"/>
                  </a:lnTo>
                  <a:lnTo>
                    <a:pt x="2662151" y="178738"/>
                  </a:lnTo>
                  <a:lnTo>
                    <a:pt x="2677788" y="219763"/>
                  </a:lnTo>
                  <a:lnTo>
                    <a:pt x="2687521" y="263346"/>
                  </a:lnTo>
                  <a:lnTo>
                    <a:pt x="2690872" y="309009"/>
                  </a:lnTo>
                  <a:lnTo>
                    <a:pt x="2690872" y="1545002"/>
                  </a:lnTo>
                  <a:lnTo>
                    <a:pt x="2687521" y="1590665"/>
                  </a:lnTo>
                  <a:lnTo>
                    <a:pt x="2677788" y="1634247"/>
                  </a:lnTo>
                  <a:lnTo>
                    <a:pt x="2662151" y="1675272"/>
                  </a:lnTo>
                  <a:lnTo>
                    <a:pt x="2641088" y="1713260"/>
                  </a:lnTo>
                  <a:lnTo>
                    <a:pt x="2615077" y="1747734"/>
                  </a:lnTo>
                  <a:lnTo>
                    <a:pt x="2584595" y="1778216"/>
                  </a:lnTo>
                  <a:lnTo>
                    <a:pt x="2550121" y="1804227"/>
                  </a:lnTo>
                  <a:lnTo>
                    <a:pt x="2512133" y="1825290"/>
                  </a:lnTo>
                  <a:lnTo>
                    <a:pt x="2471108" y="1840927"/>
                  </a:lnTo>
                  <a:lnTo>
                    <a:pt x="2427526" y="1850660"/>
                  </a:lnTo>
                  <a:lnTo>
                    <a:pt x="2381863" y="1854011"/>
                  </a:lnTo>
                  <a:lnTo>
                    <a:pt x="309008" y="1854011"/>
                  </a:lnTo>
                  <a:lnTo>
                    <a:pt x="263345" y="1850660"/>
                  </a:lnTo>
                  <a:lnTo>
                    <a:pt x="219763" y="1840927"/>
                  </a:lnTo>
                  <a:lnTo>
                    <a:pt x="178738" y="1825290"/>
                  </a:lnTo>
                  <a:lnTo>
                    <a:pt x="140750" y="1804227"/>
                  </a:lnTo>
                  <a:lnTo>
                    <a:pt x="106276" y="1778216"/>
                  </a:lnTo>
                  <a:lnTo>
                    <a:pt x="75794" y="1747734"/>
                  </a:lnTo>
                  <a:lnTo>
                    <a:pt x="49783" y="1713260"/>
                  </a:lnTo>
                  <a:lnTo>
                    <a:pt x="28720" y="1675272"/>
                  </a:lnTo>
                  <a:lnTo>
                    <a:pt x="13083" y="1634247"/>
                  </a:lnTo>
                  <a:lnTo>
                    <a:pt x="3350" y="1590665"/>
                  </a:lnTo>
                  <a:lnTo>
                    <a:pt x="0" y="1545002"/>
                  </a:lnTo>
                  <a:lnTo>
                    <a:pt x="0" y="30900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259054" y="3342131"/>
            <a:ext cx="2462530" cy="27412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400" spc="-10" dirty="0">
                <a:latin typeface="Calibri"/>
                <a:cs typeface="Calibri"/>
              </a:rPr>
              <a:t>NAME:karthik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400" dirty="0">
                <a:latin typeface="Calibri"/>
                <a:cs typeface="Calibri"/>
              </a:rPr>
              <a:t>Age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Group: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23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years</a:t>
            </a:r>
            <a:endParaRPr sz="1400" dirty="0">
              <a:latin typeface="Calibri"/>
              <a:cs typeface="Calibri"/>
            </a:endParaRPr>
          </a:p>
          <a:p>
            <a:pPr marL="12700" marR="5080">
              <a:lnSpc>
                <a:spcPct val="91700"/>
              </a:lnSpc>
              <a:spcBef>
                <a:spcPts val="570"/>
              </a:spcBef>
            </a:pPr>
            <a:r>
              <a:rPr sz="1400" spc="-10" dirty="0">
                <a:latin typeface="Calibri"/>
                <a:cs typeface="Calibri"/>
              </a:rPr>
              <a:t>Work: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Senior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Software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Engineer </a:t>
            </a:r>
            <a:r>
              <a:rPr sz="1400" dirty="0">
                <a:latin typeface="Calibri"/>
                <a:cs typeface="Calibri"/>
              </a:rPr>
              <a:t>(SDE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II/III).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Work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involves </a:t>
            </a:r>
            <a:r>
              <a:rPr sz="1400" dirty="0">
                <a:latin typeface="Calibri"/>
                <a:cs typeface="Calibri"/>
              </a:rPr>
              <a:t>designing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implementing </a:t>
            </a:r>
            <a:r>
              <a:rPr sz="1400" dirty="0">
                <a:latin typeface="Calibri"/>
                <a:cs typeface="Calibri"/>
              </a:rPr>
              <a:t>complex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components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medium- complexity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projects independently.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400" spc="-10" dirty="0">
                <a:latin typeface="Calibri"/>
                <a:cs typeface="Calibri"/>
              </a:rPr>
              <a:t>Responsibilities:</a:t>
            </a:r>
            <a:endParaRPr sz="1400" dirty="0">
              <a:latin typeface="Calibri"/>
              <a:cs typeface="Calibri"/>
            </a:endParaRPr>
          </a:p>
          <a:p>
            <a:pPr marL="12700" marR="142875" algn="just">
              <a:lnSpc>
                <a:spcPct val="92100"/>
              </a:lnSpc>
              <a:spcBef>
                <a:spcPts val="565"/>
              </a:spcBef>
            </a:pPr>
            <a:r>
              <a:rPr sz="1400" spc="-10" dirty="0">
                <a:latin typeface="Calibri"/>
                <a:cs typeface="Calibri"/>
              </a:rPr>
              <a:t>Mentoring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junior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engineers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spc="-10" dirty="0">
                <a:latin typeface="Calibri"/>
                <a:cs typeface="Calibri"/>
              </a:rPr>
              <a:t>providing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constructive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feedback </a:t>
            </a:r>
            <a:r>
              <a:rPr sz="1400" dirty="0">
                <a:latin typeface="Calibri"/>
                <a:cs typeface="Calibri"/>
              </a:rPr>
              <a:t>during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reviews.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055112" y="1109657"/>
            <a:ext cx="2716530" cy="1879600"/>
            <a:chOff x="9055112" y="1109657"/>
            <a:chExt cx="2716530" cy="187960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67812" y="1122357"/>
              <a:ext cx="2690872" cy="185401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067812" y="1122357"/>
              <a:ext cx="2691130" cy="1854200"/>
            </a:xfrm>
            <a:custGeom>
              <a:avLst/>
              <a:gdLst/>
              <a:ahLst/>
              <a:cxnLst/>
              <a:rect l="l" t="t" r="r" b="b"/>
              <a:pathLst>
                <a:path w="2691129" h="1854200">
                  <a:moveTo>
                    <a:pt x="0" y="309009"/>
                  </a:moveTo>
                  <a:lnTo>
                    <a:pt x="3350" y="263346"/>
                  </a:lnTo>
                  <a:lnTo>
                    <a:pt x="13083" y="219763"/>
                  </a:lnTo>
                  <a:lnTo>
                    <a:pt x="28720" y="178738"/>
                  </a:lnTo>
                  <a:lnTo>
                    <a:pt x="49783" y="140750"/>
                  </a:lnTo>
                  <a:lnTo>
                    <a:pt x="75794" y="106276"/>
                  </a:lnTo>
                  <a:lnTo>
                    <a:pt x="106276" y="75794"/>
                  </a:lnTo>
                  <a:lnTo>
                    <a:pt x="140750" y="49783"/>
                  </a:lnTo>
                  <a:lnTo>
                    <a:pt x="178738" y="28720"/>
                  </a:lnTo>
                  <a:lnTo>
                    <a:pt x="219763" y="13083"/>
                  </a:lnTo>
                  <a:lnTo>
                    <a:pt x="263345" y="3350"/>
                  </a:lnTo>
                  <a:lnTo>
                    <a:pt x="309008" y="0"/>
                  </a:lnTo>
                  <a:lnTo>
                    <a:pt x="2381863" y="0"/>
                  </a:lnTo>
                  <a:lnTo>
                    <a:pt x="2427526" y="3350"/>
                  </a:lnTo>
                  <a:lnTo>
                    <a:pt x="2471108" y="13083"/>
                  </a:lnTo>
                  <a:lnTo>
                    <a:pt x="2512133" y="28720"/>
                  </a:lnTo>
                  <a:lnTo>
                    <a:pt x="2550121" y="49783"/>
                  </a:lnTo>
                  <a:lnTo>
                    <a:pt x="2584595" y="75794"/>
                  </a:lnTo>
                  <a:lnTo>
                    <a:pt x="2615077" y="106276"/>
                  </a:lnTo>
                  <a:lnTo>
                    <a:pt x="2641088" y="140750"/>
                  </a:lnTo>
                  <a:lnTo>
                    <a:pt x="2662151" y="178738"/>
                  </a:lnTo>
                  <a:lnTo>
                    <a:pt x="2677788" y="219763"/>
                  </a:lnTo>
                  <a:lnTo>
                    <a:pt x="2687521" y="263346"/>
                  </a:lnTo>
                  <a:lnTo>
                    <a:pt x="2690872" y="309009"/>
                  </a:lnTo>
                  <a:lnTo>
                    <a:pt x="2690872" y="1545002"/>
                  </a:lnTo>
                  <a:lnTo>
                    <a:pt x="2687521" y="1590665"/>
                  </a:lnTo>
                  <a:lnTo>
                    <a:pt x="2677788" y="1634247"/>
                  </a:lnTo>
                  <a:lnTo>
                    <a:pt x="2662151" y="1675272"/>
                  </a:lnTo>
                  <a:lnTo>
                    <a:pt x="2641088" y="1713260"/>
                  </a:lnTo>
                  <a:lnTo>
                    <a:pt x="2615077" y="1747734"/>
                  </a:lnTo>
                  <a:lnTo>
                    <a:pt x="2584595" y="1778216"/>
                  </a:lnTo>
                  <a:lnTo>
                    <a:pt x="2550121" y="1804227"/>
                  </a:lnTo>
                  <a:lnTo>
                    <a:pt x="2512133" y="1825290"/>
                  </a:lnTo>
                  <a:lnTo>
                    <a:pt x="2471108" y="1840927"/>
                  </a:lnTo>
                  <a:lnTo>
                    <a:pt x="2427526" y="1850660"/>
                  </a:lnTo>
                  <a:lnTo>
                    <a:pt x="2381863" y="1854011"/>
                  </a:lnTo>
                  <a:lnTo>
                    <a:pt x="309008" y="1854011"/>
                  </a:lnTo>
                  <a:lnTo>
                    <a:pt x="263345" y="1850660"/>
                  </a:lnTo>
                  <a:lnTo>
                    <a:pt x="219763" y="1840927"/>
                  </a:lnTo>
                  <a:lnTo>
                    <a:pt x="178738" y="1825290"/>
                  </a:lnTo>
                  <a:lnTo>
                    <a:pt x="140750" y="1804227"/>
                  </a:lnTo>
                  <a:lnTo>
                    <a:pt x="106276" y="1778216"/>
                  </a:lnTo>
                  <a:lnTo>
                    <a:pt x="75794" y="1747734"/>
                  </a:lnTo>
                  <a:lnTo>
                    <a:pt x="49783" y="1713260"/>
                  </a:lnTo>
                  <a:lnTo>
                    <a:pt x="28720" y="1675272"/>
                  </a:lnTo>
                  <a:lnTo>
                    <a:pt x="13083" y="1634247"/>
                  </a:lnTo>
                  <a:lnTo>
                    <a:pt x="3350" y="1590665"/>
                  </a:lnTo>
                  <a:lnTo>
                    <a:pt x="0" y="1545002"/>
                  </a:lnTo>
                  <a:lnTo>
                    <a:pt x="0" y="30900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154680" y="3342131"/>
            <a:ext cx="2489200" cy="27412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400" spc="-10" dirty="0">
                <a:latin typeface="Calibri"/>
                <a:cs typeface="Calibri"/>
              </a:rPr>
              <a:t>NAME:parimal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400" dirty="0">
                <a:latin typeface="Calibri"/>
                <a:cs typeface="Calibri"/>
              </a:rPr>
              <a:t>Age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Group: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23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years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92100"/>
              </a:lnSpc>
              <a:spcBef>
                <a:spcPts val="565"/>
              </a:spcBef>
            </a:pPr>
            <a:r>
              <a:rPr sz="1400" spc="-10" dirty="0">
                <a:latin typeface="Calibri"/>
                <a:cs typeface="Calibri"/>
              </a:rPr>
              <a:t>Work: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Writing,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testing,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dirty="0">
                <a:latin typeface="Calibri"/>
                <a:cs typeface="Calibri"/>
              </a:rPr>
              <a:t>debugging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small,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specific features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under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senior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supervision.</a:t>
            </a:r>
            <a:endParaRPr sz="1400">
              <a:latin typeface="Calibri"/>
              <a:cs typeface="Calibri"/>
            </a:endParaRPr>
          </a:p>
          <a:p>
            <a:pPr marL="12700" marR="180340">
              <a:lnSpc>
                <a:spcPct val="92900"/>
              </a:lnSpc>
              <a:spcBef>
                <a:spcPts val="550"/>
              </a:spcBef>
            </a:pPr>
            <a:r>
              <a:rPr sz="1400" spc="-10" dirty="0">
                <a:latin typeface="Calibri"/>
                <a:cs typeface="Calibri"/>
              </a:rPr>
              <a:t>Responsibilities: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Completing </a:t>
            </a:r>
            <a:r>
              <a:rPr sz="1400" dirty="0">
                <a:latin typeface="Calibri"/>
                <a:cs typeface="Calibri"/>
              </a:rPr>
              <a:t>assigned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tickets,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attending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daily stand-</a:t>
            </a:r>
            <a:r>
              <a:rPr sz="1400" dirty="0">
                <a:latin typeface="Calibri"/>
                <a:cs typeface="Calibri"/>
              </a:rPr>
              <a:t>ups,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learning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team's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tech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stack.</a:t>
            </a:r>
            <a:endParaRPr sz="1400">
              <a:latin typeface="Calibri"/>
              <a:cs typeface="Calibri"/>
            </a:endParaRPr>
          </a:p>
          <a:p>
            <a:pPr marL="12700" marR="18415">
              <a:lnSpc>
                <a:spcPct val="92100"/>
              </a:lnSpc>
              <a:spcBef>
                <a:spcPts val="565"/>
              </a:spcBef>
            </a:pPr>
            <a:r>
              <a:rPr sz="1400" dirty="0">
                <a:latin typeface="Calibri"/>
                <a:cs typeface="Calibri"/>
              </a:rPr>
              <a:t>Skills: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Proficiency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core </a:t>
            </a:r>
            <a:r>
              <a:rPr sz="1400" spc="-10" dirty="0">
                <a:latin typeface="Calibri"/>
                <a:cs typeface="Calibri"/>
              </a:rPr>
              <a:t>language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(like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Python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Java)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dirty="0">
                <a:latin typeface="Calibri"/>
                <a:cs typeface="Calibri"/>
              </a:rPr>
              <a:t>basic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version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control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Git.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505" y="283971"/>
            <a:ext cx="3606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Customer</a:t>
            </a:r>
            <a:r>
              <a:rPr sz="2800" spc="-125" dirty="0"/>
              <a:t> </a:t>
            </a:r>
            <a:r>
              <a:rPr sz="2800" spc="-10" dirty="0"/>
              <a:t>Persona</a:t>
            </a:r>
            <a:r>
              <a:rPr sz="2800" spc="-105" dirty="0"/>
              <a:t> </a:t>
            </a:r>
            <a:r>
              <a:rPr sz="2800" spc="-20" dirty="0"/>
              <a:t>(CP)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57200" y="758950"/>
            <a:ext cx="6400800" cy="5288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1400" b="1" dirty="0"/>
              <a:t>Name</a:t>
            </a:r>
            <a:r>
              <a:rPr lang="en-IN" sz="1400" dirty="0"/>
              <a:t>: Ahaana Singh</a:t>
            </a:r>
          </a:p>
          <a:p>
            <a:r>
              <a:rPr lang="en-IN" sz="1400" b="1" dirty="0"/>
              <a:t>Age</a:t>
            </a:r>
            <a:r>
              <a:rPr lang="en-IN" sz="1400" dirty="0"/>
              <a:t>: 21</a:t>
            </a:r>
          </a:p>
          <a:p>
            <a:r>
              <a:rPr lang="en-IN" sz="1400" b="1" dirty="0"/>
              <a:t>Profession</a:t>
            </a:r>
            <a:r>
              <a:rPr lang="en-IN" sz="1400" dirty="0"/>
              <a:t>: CSA Student / Intern at a Real Estate Company</a:t>
            </a:r>
          </a:p>
          <a:p>
            <a:endParaRPr lang="en-IN" sz="1400" dirty="0"/>
          </a:p>
          <a:p>
            <a:r>
              <a:rPr lang="en-IN" sz="1400" b="1" dirty="0"/>
              <a:t>Background</a:t>
            </a:r>
            <a:r>
              <a:rPr lang="en-IN" sz="1400" dirty="0"/>
              <a:t>:</a:t>
            </a:r>
          </a:p>
          <a:p>
            <a:r>
              <a:rPr lang="en-IN" sz="1400" dirty="0"/>
              <a:t>1. Works as a Business Development Executive at a real estate company.</a:t>
            </a:r>
          </a:p>
          <a:p>
            <a:r>
              <a:rPr lang="en-IN" sz="1400" dirty="0"/>
              <a:t>2. Responsible for reaching out to potential clients, scheduling property discussions, and following up on leads.</a:t>
            </a:r>
          </a:p>
          <a:p>
            <a:endParaRPr lang="en-IN" sz="1400" dirty="0"/>
          </a:p>
          <a:p>
            <a:r>
              <a:rPr lang="en-IN" sz="1400" b="1" dirty="0"/>
              <a:t>Pain Points</a:t>
            </a:r>
            <a:r>
              <a:rPr lang="en-IN" sz="1400" dirty="0"/>
              <a:t>:</a:t>
            </a:r>
          </a:p>
          <a:p>
            <a:r>
              <a:rPr lang="en-IN" sz="1400" dirty="0"/>
              <a:t>1. Managing multiple calls, meetings, and sales targets creates a packed schedule.</a:t>
            </a:r>
          </a:p>
          <a:p>
            <a:r>
              <a:rPr lang="en-IN" sz="1400" dirty="0"/>
              <a:t>2. Constant coordination with clients and meeting deadlines can be stressful and tiring.</a:t>
            </a:r>
          </a:p>
          <a:p>
            <a:r>
              <a:rPr lang="en-IN" sz="1400" dirty="0"/>
              <a:t>3. Maintaining consistent follow-ups with prospects requires significant time and effort.</a:t>
            </a:r>
          </a:p>
          <a:p>
            <a:endParaRPr lang="en-IN" sz="1400" dirty="0"/>
          </a:p>
          <a:p>
            <a:r>
              <a:rPr lang="en-IN" sz="1400" b="1" dirty="0"/>
              <a:t>Needs</a:t>
            </a:r>
            <a:r>
              <a:rPr lang="en-IN" sz="1400" dirty="0"/>
              <a:t>:</a:t>
            </a:r>
          </a:p>
          <a:p>
            <a:r>
              <a:rPr lang="en-IN" sz="1400" dirty="0"/>
              <a:t>1. Better tools or systems to manage client communication and scheduling efficiently.</a:t>
            </a:r>
          </a:p>
          <a:p>
            <a:r>
              <a:rPr lang="en-IN" sz="1400" dirty="0"/>
              <a:t>2. Improved support to balance workload and reduce stress during busy work periods.</a:t>
            </a:r>
          </a:p>
          <a:p>
            <a:r>
              <a:rPr lang="en-IN" sz="1400" dirty="0"/>
              <a:t>3. Short breaks or recovery time to maintain productivity and focus.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0856" y="1145716"/>
            <a:ext cx="4435762" cy="43243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0805" y="259587"/>
            <a:ext cx="3606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Customer</a:t>
            </a:r>
            <a:r>
              <a:rPr sz="2800" spc="-125" dirty="0"/>
              <a:t> </a:t>
            </a:r>
            <a:r>
              <a:rPr sz="2800" spc="-10" dirty="0"/>
              <a:t>Persona</a:t>
            </a:r>
            <a:r>
              <a:rPr sz="2800" spc="-105" dirty="0"/>
              <a:t> </a:t>
            </a:r>
            <a:r>
              <a:rPr sz="2800" spc="-20" dirty="0"/>
              <a:t>(CP)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01700" y="772667"/>
            <a:ext cx="5803900" cy="5757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/>
              <a:t>Name:</a:t>
            </a:r>
            <a:r>
              <a:rPr lang="en-US" sz="1600" dirty="0"/>
              <a:t> Karthik</a:t>
            </a:r>
            <a:br>
              <a:rPr lang="en-US" sz="1600" dirty="0"/>
            </a:br>
            <a:r>
              <a:rPr lang="en-US" sz="1600" b="1" dirty="0"/>
              <a:t>Age:</a:t>
            </a:r>
            <a:r>
              <a:rPr lang="en-US" sz="1600" dirty="0"/>
              <a:t> 23</a:t>
            </a:r>
            <a:br>
              <a:rPr lang="en-US" sz="1600" dirty="0"/>
            </a:br>
            <a:r>
              <a:rPr lang="en-US" sz="1600" b="1" dirty="0"/>
              <a:t>Profession:</a:t>
            </a:r>
            <a:r>
              <a:rPr lang="en-US" sz="1600" dirty="0"/>
              <a:t> Senior Software Engineer (SDE II/III)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600" b="1" spc="-10" dirty="0">
              <a:latin typeface="Times New Roman"/>
              <a:cs typeface="Times New Roman"/>
            </a:endParaRPr>
          </a:p>
          <a:p>
            <a:r>
              <a:rPr lang="en-US" sz="1600" b="1" dirty="0"/>
              <a:t>Background:</a:t>
            </a:r>
          </a:p>
          <a:p>
            <a:r>
              <a:rPr lang="en-US" sz="1600" dirty="0"/>
              <a:t>1.Works on designing and developing complex software components. </a:t>
            </a:r>
          </a:p>
          <a:p>
            <a:r>
              <a:rPr lang="en-US" sz="1600" dirty="0"/>
              <a:t>2.Mentors junior engineers and conducts code reviews.</a:t>
            </a:r>
          </a:p>
          <a:p>
            <a:endParaRPr lang="en-US" sz="1600" dirty="0"/>
          </a:p>
          <a:p>
            <a:r>
              <a:rPr lang="en-US" sz="1600" b="1" dirty="0"/>
              <a:t>Pain Points:</a:t>
            </a:r>
          </a:p>
          <a:p>
            <a:r>
              <a:rPr lang="en-US" sz="1600" dirty="0"/>
              <a:t>1.Balancing development work with mentoring responsibilities. </a:t>
            </a:r>
          </a:p>
          <a:p>
            <a:r>
              <a:rPr lang="en-US" sz="1600" dirty="0"/>
              <a:t>2.Handling tight deadlines and complex technical issues.</a:t>
            </a:r>
          </a:p>
          <a:p>
            <a:endParaRPr lang="en-US" sz="1600" dirty="0"/>
          </a:p>
          <a:p>
            <a:r>
              <a:rPr lang="en-US" sz="1600" b="1" dirty="0"/>
              <a:t>Needs:</a:t>
            </a:r>
          </a:p>
          <a:p>
            <a:r>
              <a:rPr lang="en-US" sz="1600" dirty="0"/>
              <a:t>1.Tools to improve productivity and collaboration. </a:t>
            </a:r>
          </a:p>
          <a:p>
            <a:r>
              <a:rPr lang="en-US" sz="1600" dirty="0"/>
              <a:t>2.Better work-life balance and stress management support. 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7531" y="1066800"/>
            <a:ext cx="4974207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marL="57785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Product</a:t>
            </a:r>
            <a:r>
              <a:rPr sz="2800" spc="-120" dirty="0"/>
              <a:t> </a:t>
            </a:r>
            <a:r>
              <a:rPr sz="2800" spc="-25" dirty="0"/>
              <a:t>USP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7453007" y="1147298"/>
            <a:ext cx="1041400" cy="1041400"/>
            <a:chOff x="7453007" y="1147298"/>
            <a:chExt cx="1041400" cy="1041400"/>
          </a:xfrm>
        </p:grpSpPr>
        <p:sp>
          <p:nvSpPr>
            <p:cNvPr id="4" name="object 4"/>
            <p:cNvSpPr/>
            <p:nvPr/>
          </p:nvSpPr>
          <p:spPr>
            <a:xfrm>
              <a:off x="7453007" y="1147298"/>
              <a:ext cx="1041400" cy="1041400"/>
            </a:xfrm>
            <a:custGeom>
              <a:avLst/>
              <a:gdLst/>
              <a:ahLst/>
              <a:cxnLst/>
              <a:rect l="l" t="t" r="r" b="b"/>
              <a:pathLst>
                <a:path w="1041400" h="1041400">
                  <a:moveTo>
                    <a:pt x="520584" y="0"/>
                  </a:moveTo>
                  <a:lnTo>
                    <a:pt x="473200" y="2127"/>
                  </a:lnTo>
                  <a:lnTo>
                    <a:pt x="427008" y="8387"/>
                  </a:lnTo>
                  <a:lnTo>
                    <a:pt x="382192" y="18595"/>
                  </a:lnTo>
                  <a:lnTo>
                    <a:pt x="338935" y="32569"/>
                  </a:lnTo>
                  <a:lnTo>
                    <a:pt x="297422" y="50123"/>
                  </a:lnTo>
                  <a:lnTo>
                    <a:pt x="257835" y="71075"/>
                  </a:lnTo>
                  <a:lnTo>
                    <a:pt x="220359" y="95240"/>
                  </a:lnTo>
                  <a:lnTo>
                    <a:pt x="185178" y="122435"/>
                  </a:lnTo>
                  <a:lnTo>
                    <a:pt x="152475" y="152475"/>
                  </a:lnTo>
                  <a:lnTo>
                    <a:pt x="122435" y="185178"/>
                  </a:lnTo>
                  <a:lnTo>
                    <a:pt x="95240" y="220359"/>
                  </a:lnTo>
                  <a:lnTo>
                    <a:pt x="71075" y="257835"/>
                  </a:lnTo>
                  <a:lnTo>
                    <a:pt x="50123" y="297422"/>
                  </a:lnTo>
                  <a:lnTo>
                    <a:pt x="32569" y="338935"/>
                  </a:lnTo>
                  <a:lnTo>
                    <a:pt x="18595" y="382192"/>
                  </a:lnTo>
                  <a:lnTo>
                    <a:pt x="8387" y="427008"/>
                  </a:lnTo>
                  <a:lnTo>
                    <a:pt x="2127" y="473200"/>
                  </a:lnTo>
                  <a:lnTo>
                    <a:pt x="0" y="520584"/>
                  </a:lnTo>
                  <a:lnTo>
                    <a:pt x="2127" y="567968"/>
                  </a:lnTo>
                  <a:lnTo>
                    <a:pt x="8387" y="614160"/>
                  </a:lnTo>
                  <a:lnTo>
                    <a:pt x="18595" y="658976"/>
                  </a:lnTo>
                  <a:lnTo>
                    <a:pt x="32569" y="702233"/>
                  </a:lnTo>
                  <a:lnTo>
                    <a:pt x="50123" y="743747"/>
                  </a:lnTo>
                  <a:lnTo>
                    <a:pt x="71075" y="783333"/>
                  </a:lnTo>
                  <a:lnTo>
                    <a:pt x="95240" y="820809"/>
                  </a:lnTo>
                  <a:lnTo>
                    <a:pt x="122435" y="855990"/>
                  </a:lnTo>
                  <a:lnTo>
                    <a:pt x="152475" y="888693"/>
                  </a:lnTo>
                  <a:lnTo>
                    <a:pt x="185178" y="918734"/>
                  </a:lnTo>
                  <a:lnTo>
                    <a:pt x="220359" y="945928"/>
                  </a:lnTo>
                  <a:lnTo>
                    <a:pt x="257835" y="970093"/>
                  </a:lnTo>
                  <a:lnTo>
                    <a:pt x="297422" y="991045"/>
                  </a:lnTo>
                  <a:lnTo>
                    <a:pt x="338935" y="1008599"/>
                  </a:lnTo>
                  <a:lnTo>
                    <a:pt x="382192" y="1022573"/>
                  </a:lnTo>
                  <a:lnTo>
                    <a:pt x="427008" y="1032781"/>
                  </a:lnTo>
                  <a:lnTo>
                    <a:pt x="473200" y="1039041"/>
                  </a:lnTo>
                  <a:lnTo>
                    <a:pt x="520584" y="1041168"/>
                  </a:lnTo>
                  <a:lnTo>
                    <a:pt x="567968" y="1039041"/>
                  </a:lnTo>
                  <a:lnTo>
                    <a:pt x="614160" y="1032781"/>
                  </a:lnTo>
                  <a:lnTo>
                    <a:pt x="658976" y="1022573"/>
                  </a:lnTo>
                  <a:lnTo>
                    <a:pt x="702233" y="1008599"/>
                  </a:lnTo>
                  <a:lnTo>
                    <a:pt x="743747" y="991045"/>
                  </a:lnTo>
                  <a:lnTo>
                    <a:pt x="783333" y="970093"/>
                  </a:lnTo>
                  <a:lnTo>
                    <a:pt x="820809" y="945928"/>
                  </a:lnTo>
                  <a:lnTo>
                    <a:pt x="855990" y="918734"/>
                  </a:lnTo>
                  <a:lnTo>
                    <a:pt x="888693" y="888693"/>
                  </a:lnTo>
                  <a:lnTo>
                    <a:pt x="918734" y="855990"/>
                  </a:lnTo>
                  <a:lnTo>
                    <a:pt x="945928" y="820809"/>
                  </a:lnTo>
                  <a:lnTo>
                    <a:pt x="970093" y="783333"/>
                  </a:lnTo>
                  <a:lnTo>
                    <a:pt x="991045" y="743747"/>
                  </a:lnTo>
                  <a:lnTo>
                    <a:pt x="1008599" y="702233"/>
                  </a:lnTo>
                  <a:lnTo>
                    <a:pt x="1022573" y="658976"/>
                  </a:lnTo>
                  <a:lnTo>
                    <a:pt x="1032781" y="614160"/>
                  </a:lnTo>
                  <a:lnTo>
                    <a:pt x="1039041" y="567968"/>
                  </a:lnTo>
                  <a:lnTo>
                    <a:pt x="1041168" y="520584"/>
                  </a:lnTo>
                  <a:lnTo>
                    <a:pt x="1039041" y="473200"/>
                  </a:lnTo>
                  <a:lnTo>
                    <a:pt x="1032781" y="427008"/>
                  </a:lnTo>
                  <a:lnTo>
                    <a:pt x="1022573" y="382192"/>
                  </a:lnTo>
                  <a:lnTo>
                    <a:pt x="1008599" y="338935"/>
                  </a:lnTo>
                  <a:lnTo>
                    <a:pt x="991045" y="297422"/>
                  </a:lnTo>
                  <a:lnTo>
                    <a:pt x="970093" y="257835"/>
                  </a:lnTo>
                  <a:lnTo>
                    <a:pt x="945928" y="220359"/>
                  </a:lnTo>
                  <a:lnTo>
                    <a:pt x="918734" y="185178"/>
                  </a:lnTo>
                  <a:lnTo>
                    <a:pt x="888693" y="152475"/>
                  </a:lnTo>
                  <a:lnTo>
                    <a:pt x="855990" y="122435"/>
                  </a:lnTo>
                  <a:lnTo>
                    <a:pt x="820809" y="95240"/>
                  </a:lnTo>
                  <a:lnTo>
                    <a:pt x="783333" y="71075"/>
                  </a:lnTo>
                  <a:lnTo>
                    <a:pt x="743747" y="50123"/>
                  </a:lnTo>
                  <a:lnTo>
                    <a:pt x="702233" y="32569"/>
                  </a:lnTo>
                  <a:lnTo>
                    <a:pt x="658976" y="18595"/>
                  </a:lnTo>
                  <a:lnTo>
                    <a:pt x="614160" y="8387"/>
                  </a:lnTo>
                  <a:lnTo>
                    <a:pt x="567968" y="2127"/>
                  </a:lnTo>
                  <a:lnTo>
                    <a:pt x="520584" y="0"/>
                  </a:lnTo>
                  <a:close/>
                </a:path>
              </a:pathLst>
            </a:custGeom>
            <a:solidFill>
              <a:srgbClr val="DEE7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74864" y="1368552"/>
              <a:ext cx="600455" cy="60045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291411" y="2463291"/>
            <a:ext cx="1364615" cy="4978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58115" marR="5080" indent="-146050">
              <a:lnSpc>
                <a:spcPts val="1800"/>
              </a:lnSpc>
              <a:spcBef>
                <a:spcPts val="259"/>
              </a:spcBef>
              <a:buChar char="•"/>
              <a:tabLst>
                <a:tab pos="296545" algn="l"/>
              </a:tabLst>
            </a:pPr>
            <a:r>
              <a:rPr sz="1600" dirty="0">
                <a:latin typeface="Calibri"/>
                <a:cs typeface="Calibri"/>
              </a:rPr>
              <a:t>AI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SENTIMENT 	ANALYSIS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458541" y="1147298"/>
            <a:ext cx="1041400" cy="1041400"/>
            <a:chOff x="9458541" y="1147298"/>
            <a:chExt cx="1041400" cy="1041400"/>
          </a:xfrm>
        </p:grpSpPr>
        <p:sp>
          <p:nvSpPr>
            <p:cNvPr id="8" name="object 8"/>
            <p:cNvSpPr/>
            <p:nvPr/>
          </p:nvSpPr>
          <p:spPr>
            <a:xfrm>
              <a:off x="9458541" y="1147298"/>
              <a:ext cx="1041400" cy="1041400"/>
            </a:xfrm>
            <a:custGeom>
              <a:avLst/>
              <a:gdLst/>
              <a:ahLst/>
              <a:cxnLst/>
              <a:rect l="l" t="t" r="r" b="b"/>
              <a:pathLst>
                <a:path w="1041400" h="1041400">
                  <a:moveTo>
                    <a:pt x="520584" y="0"/>
                  </a:moveTo>
                  <a:lnTo>
                    <a:pt x="473200" y="2127"/>
                  </a:lnTo>
                  <a:lnTo>
                    <a:pt x="427008" y="8387"/>
                  </a:lnTo>
                  <a:lnTo>
                    <a:pt x="382192" y="18595"/>
                  </a:lnTo>
                  <a:lnTo>
                    <a:pt x="338935" y="32569"/>
                  </a:lnTo>
                  <a:lnTo>
                    <a:pt x="297421" y="50123"/>
                  </a:lnTo>
                  <a:lnTo>
                    <a:pt x="257835" y="71075"/>
                  </a:lnTo>
                  <a:lnTo>
                    <a:pt x="220359" y="95240"/>
                  </a:lnTo>
                  <a:lnTo>
                    <a:pt x="185178" y="122435"/>
                  </a:lnTo>
                  <a:lnTo>
                    <a:pt x="152475" y="152475"/>
                  </a:lnTo>
                  <a:lnTo>
                    <a:pt x="122434" y="185178"/>
                  </a:lnTo>
                  <a:lnTo>
                    <a:pt x="95239" y="220359"/>
                  </a:lnTo>
                  <a:lnTo>
                    <a:pt x="71074" y="257835"/>
                  </a:lnTo>
                  <a:lnTo>
                    <a:pt x="50123" y="297422"/>
                  </a:lnTo>
                  <a:lnTo>
                    <a:pt x="32569" y="338935"/>
                  </a:lnTo>
                  <a:lnTo>
                    <a:pt x="18595" y="382192"/>
                  </a:lnTo>
                  <a:lnTo>
                    <a:pt x="8387" y="427008"/>
                  </a:lnTo>
                  <a:lnTo>
                    <a:pt x="2127" y="473200"/>
                  </a:lnTo>
                  <a:lnTo>
                    <a:pt x="0" y="520584"/>
                  </a:lnTo>
                  <a:lnTo>
                    <a:pt x="2127" y="567968"/>
                  </a:lnTo>
                  <a:lnTo>
                    <a:pt x="8387" y="614160"/>
                  </a:lnTo>
                  <a:lnTo>
                    <a:pt x="18595" y="658976"/>
                  </a:lnTo>
                  <a:lnTo>
                    <a:pt x="32569" y="702233"/>
                  </a:lnTo>
                  <a:lnTo>
                    <a:pt x="50123" y="743747"/>
                  </a:lnTo>
                  <a:lnTo>
                    <a:pt x="71074" y="783333"/>
                  </a:lnTo>
                  <a:lnTo>
                    <a:pt x="95239" y="820809"/>
                  </a:lnTo>
                  <a:lnTo>
                    <a:pt x="122434" y="855990"/>
                  </a:lnTo>
                  <a:lnTo>
                    <a:pt x="152475" y="888693"/>
                  </a:lnTo>
                  <a:lnTo>
                    <a:pt x="185178" y="918734"/>
                  </a:lnTo>
                  <a:lnTo>
                    <a:pt x="220359" y="945928"/>
                  </a:lnTo>
                  <a:lnTo>
                    <a:pt x="257835" y="970093"/>
                  </a:lnTo>
                  <a:lnTo>
                    <a:pt x="297421" y="991045"/>
                  </a:lnTo>
                  <a:lnTo>
                    <a:pt x="338935" y="1008599"/>
                  </a:lnTo>
                  <a:lnTo>
                    <a:pt x="382192" y="1022573"/>
                  </a:lnTo>
                  <a:lnTo>
                    <a:pt x="427008" y="1032781"/>
                  </a:lnTo>
                  <a:lnTo>
                    <a:pt x="473200" y="1039041"/>
                  </a:lnTo>
                  <a:lnTo>
                    <a:pt x="520584" y="1041168"/>
                  </a:lnTo>
                  <a:lnTo>
                    <a:pt x="567968" y="1039041"/>
                  </a:lnTo>
                  <a:lnTo>
                    <a:pt x="614159" y="1032781"/>
                  </a:lnTo>
                  <a:lnTo>
                    <a:pt x="658976" y="1022573"/>
                  </a:lnTo>
                  <a:lnTo>
                    <a:pt x="702232" y="1008599"/>
                  </a:lnTo>
                  <a:lnTo>
                    <a:pt x="743746" y="991045"/>
                  </a:lnTo>
                  <a:lnTo>
                    <a:pt x="783333" y="970093"/>
                  </a:lnTo>
                  <a:lnTo>
                    <a:pt x="820808" y="945928"/>
                  </a:lnTo>
                  <a:lnTo>
                    <a:pt x="855990" y="918734"/>
                  </a:lnTo>
                  <a:lnTo>
                    <a:pt x="888692" y="888693"/>
                  </a:lnTo>
                  <a:lnTo>
                    <a:pt x="918733" y="855990"/>
                  </a:lnTo>
                  <a:lnTo>
                    <a:pt x="945928" y="820809"/>
                  </a:lnTo>
                  <a:lnTo>
                    <a:pt x="970093" y="783333"/>
                  </a:lnTo>
                  <a:lnTo>
                    <a:pt x="991045" y="743747"/>
                  </a:lnTo>
                  <a:lnTo>
                    <a:pt x="1008599" y="702233"/>
                  </a:lnTo>
                  <a:lnTo>
                    <a:pt x="1022573" y="658976"/>
                  </a:lnTo>
                  <a:lnTo>
                    <a:pt x="1032781" y="614160"/>
                  </a:lnTo>
                  <a:lnTo>
                    <a:pt x="1039041" y="567968"/>
                  </a:lnTo>
                  <a:lnTo>
                    <a:pt x="1041168" y="520584"/>
                  </a:lnTo>
                  <a:lnTo>
                    <a:pt x="1039041" y="473200"/>
                  </a:lnTo>
                  <a:lnTo>
                    <a:pt x="1032781" y="427008"/>
                  </a:lnTo>
                  <a:lnTo>
                    <a:pt x="1022573" y="382192"/>
                  </a:lnTo>
                  <a:lnTo>
                    <a:pt x="1008599" y="338935"/>
                  </a:lnTo>
                  <a:lnTo>
                    <a:pt x="991045" y="297422"/>
                  </a:lnTo>
                  <a:lnTo>
                    <a:pt x="970093" y="257835"/>
                  </a:lnTo>
                  <a:lnTo>
                    <a:pt x="945928" y="220359"/>
                  </a:lnTo>
                  <a:lnTo>
                    <a:pt x="918733" y="185178"/>
                  </a:lnTo>
                  <a:lnTo>
                    <a:pt x="888692" y="152475"/>
                  </a:lnTo>
                  <a:lnTo>
                    <a:pt x="855990" y="122435"/>
                  </a:lnTo>
                  <a:lnTo>
                    <a:pt x="820808" y="95240"/>
                  </a:lnTo>
                  <a:lnTo>
                    <a:pt x="783333" y="71075"/>
                  </a:lnTo>
                  <a:lnTo>
                    <a:pt x="743746" y="50123"/>
                  </a:lnTo>
                  <a:lnTo>
                    <a:pt x="702232" y="32569"/>
                  </a:lnTo>
                  <a:lnTo>
                    <a:pt x="658976" y="18595"/>
                  </a:lnTo>
                  <a:lnTo>
                    <a:pt x="614159" y="8387"/>
                  </a:lnTo>
                  <a:lnTo>
                    <a:pt x="567968" y="2127"/>
                  </a:lnTo>
                  <a:lnTo>
                    <a:pt x="520584" y="0"/>
                  </a:lnTo>
                  <a:close/>
                </a:path>
              </a:pathLst>
            </a:custGeom>
            <a:solidFill>
              <a:srgbClr val="DEE7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77400" y="1368552"/>
              <a:ext cx="600455" cy="60045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469664" y="2463291"/>
            <a:ext cx="1019175" cy="4978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6195" marR="5080" indent="-24130">
              <a:lnSpc>
                <a:spcPts val="1800"/>
              </a:lnSpc>
              <a:spcBef>
                <a:spcPts val="259"/>
              </a:spcBef>
              <a:buChar char="•"/>
              <a:tabLst>
                <a:tab pos="36195" algn="l"/>
                <a:tab pos="158750" algn="l"/>
              </a:tabLst>
            </a:pPr>
            <a:r>
              <a:rPr sz="1600" spc="-10" dirty="0">
                <a:latin typeface="Calibri"/>
                <a:cs typeface="Calibri"/>
              </a:rPr>
              <a:t>	BURNOUT DETECTION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50581" y="3657600"/>
            <a:ext cx="1041400" cy="1041400"/>
            <a:chOff x="7450581" y="3657600"/>
            <a:chExt cx="1041400" cy="1041400"/>
          </a:xfrm>
        </p:grpSpPr>
        <p:sp>
          <p:nvSpPr>
            <p:cNvPr id="12" name="object 12"/>
            <p:cNvSpPr/>
            <p:nvPr/>
          </p:nvSpPr>
          <p:spPr>
            <a:xfrm>
              <a:off x="7450581" y="3657600"/>
              <a:ext cx="1041400" cy="1041400"/>
            </a:xfrm>
            <a:custGeom>
              <a:avLst/>
              <a:gdLst/>
              <a:ahLst/>
              <a:cxnLst/>
              <a:rect l="l" t="t" r="r" b="b"/>
              <a:pathLst>
                <a:path w="1041400" h="1041400">
                  <a:moveTo>
                    <a:pt x="520584" y="0"/>
                  </a:moveTo>
                  <a:lnTo>
                    <a:pt x="473200" y="2127"/>
                  </a:lnTo>
                  <a:lnTo>
                    <a:pt x="427008" y="8387"/>
                  </a:lnTo>
                  <a:lnTo>
                    <a:pt x="382192" y="18595"/>
                  </a:lnTo>
                  <a:lnTo>
                    <a:pt x="338935" y="32569"/>
                  </a:lnTo>
                  <a:lnTo>
                    <a:pt x="297422" y="50123"/>
                  </a:lnTo>
                  <a:lnTo>
                    <a:pt x="257835" y="71074"/>
                  </a:lnTo>
                  <a:lnTo>
                    <a:pt x="220359" y="95239"/>
                  </a:lnTo>
                  <a:lnTo>
                    <a:pt x="185178" y="122434"/>
                  </a:lnTo>
                  <a:lnTo>
                    <a:pt x="152475" y="152475"/>
                  </a:lnTo>
                  <a:lnTo>
                    <a:pt x="122435" y="185178"/>
                  </a:lnTo>
                  <a:lnTo>
                    <a:pt x="95240" y="220359"/>
                  </a:lnTo>
                  <a:lnTo>
                    <a:pt x="71075" y="257835"/>
                  </a:lnTo>
                  <a:lnTo>
                    <a:pt x="50123" y="297421"/>
                  </a:lnTo>
                  <a:lnTo>
                    <a:pt x="32569" y="338935"/>
                  </a:lnTo>
                  <a:lnTo>
                    <a:pt x="18595" y="382192"/>
                  </a:lnTo>
                  <a:lnTo>
                    <a:pt x="8387" y="427008"/>
                  </a:lnTo>
                  <a:lnTo>
                    <a:pt x="2127" y="473200"/>
                  </a:lnTo>
                  <a:lnTo>
                    <a:pt x="0" y="520584"/>
                  </a:lnTo>
                  <a:lnTo>
                    <a:pt x="2127" y="567968"/>
                  </a:lnTo>
                  <a:lnTo>
                    <a:pt x="8387" y="614159"/>
                  </a:lnTo>
                  <a:lnTo>
                    <a:pt x="18595" y="658976"/>
                  </a:lnTo>
                  <a:lnTo>
                    <a:pt x="32569" y="702232"/>
                  </a:lnTo>
                  <a:lnTo>
                    <a:pt x="50123" y="743746"/>
                  </a:lnTo>
                  <a:lnTo>
                    <a:pt x="71075" y="783333"/>
                  </a:lnTo>
                  <a:lnTo>
                    <a:pt x="95240" y="820808"/>
                  </a:lnTo>
                  <a:lnTo>
                    <a:pt x="122435" y="855990"/>
                  </a:lnTo>
                  <a:lnTo>
                    <a:pt x="152475" y="888692"/>
                  </a:lnTo>
                  <a:lnTo>
                    <a:pt x="185178" y="918733"/>
                  </a:lnTo>
                  <a:lnTo>
                    <a:pt x="220359" y="945928"/>
                  </a:lnTo>
                  <a:lnTo>
                    <a:pt x="257835" y="970093"/>
                  </a:lnTo>
                  <a:lnTo>
                    <a:pt x="297422" y="991045"/>
                  </a:lnTo>
                  <a:lnTo>
                    <a:pt x="338935" y="1008599"/>
                  </a:lnTo>
                  <a:lnTo>
                    <a:pt x="382192" y="1022573"/>
                  </a:lnTo>
                  <a:lnTo>
                    <a:pt x="427008" y="1032781"/>
                  </a:lnTo>
                  <a:lnTo>
                    <a:pt x="473200" y="1039041"/>
                  </a:lnTo>
                  <a:lnTo>
                    <a:pt x="520584" y="1041168"/>
                  </a:lnTo>
                  <a:lnTo>
                    <a:pt x="567968" y="1039041"/>
                  </a:lnTo>
                  <a:lnTo>
                    <a:pt x="614160" y="1032781"/>
                  </a:lnTo>
                  <a:lnTo>
                    <a:pt x="658976" y="1022573"/>
                  </a:lnTo>
                  <a:lnTo>
                    <a:pt x="702233" y="1008599"/>
                  </a:lnTo>
                  <a:lnTo>
                    <a:pt x="743747" y="991045"/>
                  </a:lnTo>
                  <a:lnTo>
                    <a:pt x="783333" y="970093"/>
                  </a:lnTo>
                  <a:lnTo>
                    <a:pt x="820809" y="945928"/>
                  </a:lnTo>
                  <a:lnTo>
                    <a:pt x="855990" y="918733"/>
                  </a:lnTo>
                  <a:lnTo>
                    <a:pt x="888693" y="888692"/>
                  </a:lnTo>
                  <a:lnTo>
                    <a:pt x="918734" y="855990"/>
                  </a:lnTo>
                  <a:lnTo>
                    <a:pt x="945928" y="820808"/>
                  </a:lnTo>
                  <a:lnTo>
                    <a:pt x="970093" y="783333"/>
                  </a:lnTo>
                  <a:lnTo>
                    <a:pt x="991045" y="743746"/>
                  </a:lnTo>
                  <a:lnTo>
                    <a:pt x="1008599" y="702232"/>
                  </a:lnTo>
                  <a:lnTo>
                    <a:pt x="1022573" y="658976"/>
                  </a:lnTo>
                  <a:lnTo>
                    <a:pt x="1032781" y="614159"/>
                  </a:lnTo>
                  <a:lnTo>
                    <a:pt x="1039041" y="567968"/>
                  </a:lnTo>
                  <a:lnTo>
                    <a:pt x="1041168" y="520584"/>
                  </a:lnTo>
                  <a:lnTo>
                    <a:pt x="1039041" y="473200"/>
                  </a:lnTo>
                  <a:lnTo>
                    <a:pt x="1032781" y="427008"/>
                  </a:lnTo>
                  <a:lnTo>
                    <a:pt x="1022573" y="382192"/>
                  </a:lnTo>
                  <a:lnTo>
                    <a:pt x="1008599" y="338935"/>
                  </a:lnTo>
                  <a:lnTo>
                    <a:pt x="991045" y="297421"/>
                  </a:lnTo>
                  <a:lnTo>
                    <a:pt x="970093" y="257835"/>
                  </a:lnTo>
                  <a:lnTo>
                    <a:pt x="945928" y="220359"/>
                  </a:lnTo>
                  <a:lnTo>
                    <a:pt x="918734" y="185178"/>
                  </a:lnTo>
                  <a:lnTo>
                    <a:pt x="888693" y="152475"/>
                  </a:lnTo>
                  <a:lnTo>
                    <a:pt x="855990" y="122434"/>
                  </a:lnTo>
                  <a:lnTo>
                    <a:pt x="820809" y="95239"/>
                  </a:lnTo>
                  <a:lnTo>
                    <a:pt x="783333" y="71074"/>
                  </a:lnTo>
                  <a:lnTo>
                    <a:pt x="743747" y="50123"/>
                  </a:lnTo>
                  <a:lnTo>
                    <a:pt x="702233" y="32569"/>
                  </a:lnTo>
                  <a:lnTo>
                    <a:pt x="658976" y="18595"/>
                  </a:lnTo>
                  <a:lnTo>
                    <a:pt x="614160" y="8387"/>
                  </a:lnTo>
                  <a:lnTo>
                    <a:pt x="567968" y="2127"/>
                  </a:lnTo>
                  <a:lnTo>
                    <a:pt x="520584" y="0"/>
                  </a:lnTo>
                  <a:close/>
                </a:path>
              </a:pathLst>
            </a:custGeom>
            <a:solidFill>
              <a:srgbClr val="DEE7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74863" y="3843528"/>
              <a:ext cx="600455" cy="60045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113008" y="4938267"/>
            <a:ext cx="17214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" indent="-146685">
              <a:lnSpc>
                <a:spcPct val="100000"/>
              </a:lnSpc>
              <a:spcBef>
                <a:spcPts val="100"/>
              </a:spcBef>
              <a:buChar char="•"/>
              <a:tabLst>
                <a:tab pos="159385" algn="l"/>
              </a:tabLst>
            </a:pPr>
            <a:r>
              <a:rPr sz="1600" spc="-25" dirty="0">
                <a:latin typeface="Calibri"/>
                <a:cs typeface="Calibri"/>
              </a:rPr>
              <a:t>WEEKLY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TRACKING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458541" y="3622211"/>
            <a:ext cx="1041400" cy="1041400"/>
            <a:chOff x="9458541" y="3622211"/>
            <a:chExt cx="1041400" cy="1041400"/>
          </a:xfrm>
        </p:grpSpPr>
        <p:sp>
          <p:nvSpPr>
            <p:cNvPr id="16" name="object 16"/>
            <p:cNvSpPr/>
            <p:nvPr/>
          </p:nvSpPr>
          <p:spPr>
            <a:xfrm>
              <a:off x="9458541" y="3622211"/>
              <a:ext cx="1041400" cy="1041400"/>
            </a:xfrm>
            <a:custGeom>
              <a:avLst/>
              <a:gdLst/>
              <a:ahLst/>
              <a:cxnLst/>
              <a:rect l="l" t="t" r="r" b="b"/>
              <a:pathLst>
                <a:path w="1041400" h="1041400">
                  <a:moveTo>
                    <a:pt x="520584" y="0"/>
                  </a:moveTo>
                  <a:lnTo>
                    <a:pt x="473200" y="2127"/>
                  </a:lnTo>
                  <a:lnTo>
                    <a:pt x="427008" y="8387"/>
                  </a:lnTo>
                  <a:lnTo>
                    <a:pt x="382192" y="18595"/>
                  </a:lnTo>
                  <a:lnTo>
                    <a:pt x="338935" y="32569"/>
                  </a:lnTo>
                  <a:lnTo>
                    <a:pt x="297421" y="50123"/>
                  </a:lnTo>
                  <a:lnTo>
                    <a:pt x="257835" y="71074"/>
                  </a:lnTo>
                  <a:lnTo>
                    <a:pt x="220359" y="95239"/>
                  </a:lnTo>
                  <a:lnTo>
                    <a:pt x="185178" y="122434"/>
                  </a:lnTo>
                  <a:lnTo>
                    <a:pt x="152475" y="152475"/>
                  </a:lnTo>
                  <a:lnTo>
                    <a:pt x="122434" y="185178"/>
                  </a:lnTo>
                  <a:lnTo>
                    <a:pt x="95239" y="220359"/>
                  </a:lnTo>
                  <a:lnTo>
                    <a:pt x="71074" y="257835"/>
                  </a:lnTo>
                  <a:lnTo>
                    <a:pt x="50123" y="297421"/>
                  </a:lnTo>
                  <a:lnTo>
                    <a:pt x="32569" y="338935"/>
                  </a:lnTo>
                  <a:lnTo>
                    <a:pt x="18595" y="382192"/>
                  </a:lnTo>
                  <a:lnTo>
                    <a:pt x="8387" y="427008"/>
                  </a:lnTo>
                  <a:lnTo>
                    <a:pt x="2127" y="473200"/>
                  </a:lnTo>
                  <a:lnTo>
                    <a:pt x="0" y="520584"/>
                  </a:lnTo>
                  <a:lnTo>
                    <a:pt x="2127" y="567968"/>
                  </a:lnTo>
                  <a:lnTo>
                    <a:pt x="8387" y="614159"/>
                  </a:lnTo>
                  <a:lnTo>
                    <a:pt x="18595" y="658976"/>
                  </a:lnTo>
                  <a:lnTo>
                    <a:pt x="32569" y="702232"/>
                  </a:lnTo>
                  <a:lnTo>
                    <a:pt x="50123" y="743746"/>
                  </a:lnTo>
                  <a:lnTo>
                    <a:pt x="71074" y="783333"/>
                  </a:lnTo>
                  <a:lnTo>
                    <a:pt x="95239" y="820808"/>
                  </a:lnTo>
                  <a:lnTo>
                    <a:pt x="122434" y="855990"/>
                  </a:lnTo>
                  <a:lnTo>
                    <a:pt x="152475" y="888692"/>
                  </a:lnTo>
                  <a:lnTo>
                    <a:pt x="185178" y="918733"/>
                  </a:lnTo>
                  <a:lnTo>
                    <a:pt x="220359" y="945928"/>
                  </a:lnTo>
                  <a:lnTo>
                    <a:pt x="257835" y="970093"/>
                  </a:lnTo>
                  <a:lnTo>
                    <a:pt x="297421" y="991045"/>
                  </a:lnTo>
                  <a:lnTo>
                    <a:pt x="338935" y="1008599"/>
                  </a:lnTo>
                  <a:lnTo>
                    <a:pt x="382192" y="1022573"/>
                  </a:lnTo>
                  <a:lnTo>
                    <a:pt x="427008" y="1032781"/>
                  </a:lnTo>
                  <a:lnTo>
                    <a:pt x="473200" y="1039041"/>
                  </a:lnTo>
                  <a:lnTo>
                    <a:pt x="520584" y="1041168"/>
                  </a:lnTo>
                  <a:lnTo>
                    <a:pt x="567968" y="1039041"/>
                  </a:lnTo>
                  <a:lnTo>
                    <a:pt x="614159" y="1032781"/>
                  </a:lnTo>
                  <a:lnTo>
                    <a:pt x="658976" y="1022573"/>
                  </a:lnTo>
                  <a:lnTo>
                    <a:pt x="702232" y="1008599"/>
                  </a:lnTo>
                  <a:lnTo>
                    <a:pt x="743746" y="991045"/>
                  </a:lnTo>
                  <a:lnTo>
                    <a:pt x="783333" y="970093"/>
                  </a:lnTo>
                  <a:lnTo>
                    <a:pt x="820808" y="945928"/>
                  </a:lnTo>
                  <a:lnTo>
                    <a:pt x="855990" y="918733"/>
                  </a:lnTo>
                  <a:lnTo>
                    <a:pt x="888692" y="888692"/>
                  </a:lnTo>
                  <a:lnTo>
                    <a:pt x="918733" y="855990"/>
                  </a:lnTo>
                  <a:lnTo>
                    <a:pt x="945928" y="820808"/>
                  </a:lnTo>
                  <a:lnTo>
                    <a:pt x="970093" y="783333"/>
                  </a:lnTo>
                  <a:lnTo>
                    <a:pt x="991045" y="743746"/>
                  </a:lnTo>
                  <a:lnTo>
                    <a:pt x="1008599" y="702232"/>
                  </a:lnTo>
                  <a:lnTo>
                    <a:pt x="1022573" y="658976"/>
                  </a:lnTo>
                  <a:lnTo>
                    <a:pt x="1032781" y="614159"/>
                  </a:lnTo>
                  <a:lnTo>
                    <a:pt x="1039041" y="567968"/>
                  </a:lnTo>
                  <a:lnTo>
                    <a:pt x="1041168" y="520584"/>
                  </a:lnTo>
                  <a:lnTo>
                    <a:pt x="1039041" y="473200"/>
                  </a:lnTo>
                  <a:lnTo>
                    <a:pt x="1032781" y="427008"/>
                  </a:lnTo>
                  <a:lnTo>
                    <a:pt x="1022573" y="382192"/>
                  </a:lnTo>
                  <a:lnTo>
                    <a:pt x="1008599" y="338935"/>
                  </a:lnTo>
                  <a:lnTo>
                    <a:pt x="991045" y="297421"/>
                  </a:lnTo>
                  <a:lnTo>
                    <a:pt x="970093" y="257835"/>
                  </a:lnTo>
                  <a:lnTo>
                    <a:pt x="945928" y="220359"/>
                  </a:lnTo>
                  <a:lnTo>
                    <a:pt x="918733" y="185178"/>
                  </a:lnTo>
                  <a:lnTo>
                    <a:pt x="888692" y="152475"/>
                  </a:lnTo>
                  <a:lnTo>
                    <a:pt x="855990" y="122434"/>
                  </a:lnTo>
                  <a:lnTo>
                    <a:pt x="820808" y="95239"/>
                  </a:lnTo>
                  <a:lnTo>
                    <a:pt x="783333" y="71074"/>
                  </a:lnTo>
                  <a:lnTo>
                    <a:pt x="743746" y="50123"/>
                  </a:lnTo>
                  <a:lnTo>
                    <a:pt x="702232" y="32569"/>
                  </a:lnTo>
                  <a:lnTo>
                    <a:pt x="658976" y="18595"/>
                  </a:lnTo>
                  <a:lnTo>
                    <a:pt x="614159" y="8387"/>
                  </a:lnTo>
                  <a:lnTo>
                    <a:pt x="567968" y="2127"/>
                  </a:lnTo>
                  <a:lnTo>
                    <a:pt x="520584" y="0"/>
                  </a:lnTo>
                  <a:close/>
                </a:path>
              </a:pathLst>
            </a:custGeom>
            <a:solidFill>
              <a:srgbClr val="DEE7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77400" y="3843528"/>
              <a:ext cx="600455" cy="60045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438708" y="4938267"/>
            <a:ext cx="1081405" cy="71120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53670" marR="20955" indent="-125730">
              <a:lnSpc>
                <a:spcPts val="1800"/>
              </a:lnSpc>
              <a:spcBef>
                <a:spcPts val="259"/>
              </a:spcBef>
              <a:buChar char="•"/>
              <a:tabLst>
                <a:tab pos="153670" algn="l"/>
                <a:tab pos="173990" algn="l"/>
              </a:tabLst>
            </a:pP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MANAGER INSIGHTS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639"/>
              </a:lnSpc>
            </a:pPr>
            <a:r>
              <a:rPr sz="1600" spc="-10" dirty="0">
                <a:latin typeface="Calibri"/>
                <a:cs typeface="Calibri"/>
              </a:rPr>
              <a:t>DASHBOARD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0739" y="1095755"/>
            <a:ext cx="6101080" cy="429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AI-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sentiment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-25" dirty="0">
                <a:latin typeface="Times New Roman"/>
                <a:cs typeface="Times New Roman"/>
              </a:rPr>
              <a:t> to </a:t>
            </a:r>
            <a:r>
              <a:rPr sz="2000" dirty="0">
                <a:latin typeface="Times New Roman"/>
                <a:cs typeface="Times New Roman"/>
              </a:rPr>
              <a:t>automatically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evaluate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employee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feedback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identify </a:t>
            </a:r>
            <a:r>
              <a:rPr sz="2000" dirty="0">
                <a:latin typeface="Times New Roman"/>
                <a:cs typeface="Times New Roman"/>
              </a:rPr>
              <a:t>emotions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positive,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negative,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neutral,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helping </a:t>
            </a:r>
            <a:r>
              <a:rPr sz="2000" dirty="0">
                <a:latin typeface="Times New Roman"/>
                <a:cs typeface="Times New Roman"/>
              </a:rPr>
              <a:t>organizations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understand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feelings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manual </a:t>
            </a:r>
            <a:r>
              <a:rPr sz="2000" dirty="0">
                <a:latin typeface="Times New Roman"/>
                <a:cs typeface="Times New Roman"/>
              </a:rPr>
              <a:t>effort.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burnout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detection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analyzing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stress </a:t>
            </a:r>
            <a:r>
              <a:rPr sz="2000" dirty="0">
                <a:latin typeface="Times New Roman"/>
                <a:cs typeface="Times New Roman"/>
              </a:rPr>
              <a:t>levels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feedback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patterns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classify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employees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low, </a:t>
            </a:r>
            <a:r>
              <a:rPr sz="2000" dirty="0">
                <a:latin typeface="Times New Roman"/>
                <a:cs typeface="Times New Roman"/>
              </a:rPr>
              <a:t>moderate,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risk,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early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intervention.</a:t>
            </a:r>
            <a:r>
              <a:rPr sz="2000" spc="-20" dirty="0">
                <a:latin typeface="Times New Roman"/>
                <a:cs typeface="Times New Roman"/>
              </a:rPr>
              <a:t> With </a:t>
            </a:r>
            <a:r>
              <a:rPr sz="2000" dirty="0">
                <a:latin typeface="Times New Roman"/>
                <a:cs typeface="Times New Roman"/>
              </a:rPr>
              <a:t>weekly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tracking,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employees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submit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well- </a:t>
            </a:r>
            <a:r>
              <a:rPr sz="2000" dirty="0">
                <a:latin typeface="Times New Roman"/>
                <a:cs typeface="Times New Roman"/>
              </a:rPr>
              <a:t>being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continuous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trend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Additionally,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insights </a:t>
            </a:r>
            <a:r>
              <a:rPr sz="2000" dirty="0">
                <a:latin typeface="Times New Roman"/>
                <a:cs typeface="Times New Roman"/>
              </a:rPr>
              <a:t>dashboard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clear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visual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overview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team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stress </a:t>
            </a:r>
            <a:r>
              <a:rPr sz="2000" dirty="0">
                <a:latin typeface="Times New Roman"/>
                <a:cs typeface="Times New Roman"/>
              </a:rPr>
              <a:t>levels,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burnout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risks,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trends,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helping </a:t>
            </a:r>
            <a:r>
              <a:rPr sz="2000" dirty="0">
                <a:latin typeface="Times New Roman"/>
                <a:cs typeface="Times New Roman"/>
              </a:rPr>
              <a:t>managers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decisions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overall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environment.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243" rIns="0" bIns="0" rtlCol="0">
            <a:spAutoFit/>
          </a:bodyPr>
          <a:lstStyle/>
          <a:p>
            <a:pPr marL="666115">
              <a:lnSpc>
                <a:spcPct val="100000"/>
              </a:lnSpc>
              <a:spcBef>
                <a:spcPts val="95"/>
              </a:spcBef>
            </a:pPr>
            <a:r>
              <a:rPr sz="2750" dirty="0">
                <a:latin typeface="Segoe Print"/>
                <a:cs typeface="Segoe Print"/>
              </a:rPr>
              <a:t>Use</a:t>
            </a:r>
            <a:r>
              <a:rPr sz="2750" spc="15" dirty="0">
                <a:latin typeface="Segoe Print"/>
                <a:cs typeface="Segoe Print"/>
              </a:rPr>
              <a:t> </a:t>
            </a:r>
            <a:r>
              <a:rPr sz="2750" dirty="0">
                <a:latin typeface="Segoe Print"/>
                <a:cs typeface="Segoe Print"/>
              </a:rPr>
              <a:t>Cases</a:t>
            </a:r>
            <a:r>
              <a:rPr sz="2750" spc="30" dirty="0">
                <a:latin typeface="Segoe Print"/>
                <a:cs typeface="Segoe Print"/>
              </a:rPr>
              <a:t> </a:t>
            </a:r>
            <a:r>
              <a:rPr sz="2750" dirty="0">
                <a:latin typeface="Segoe Print"/>
                <a:cs typeface="Segoe Print"/>
              </a:rPr>
              <a:t>&amp;</a:t>
            </a:r>
            <a:r>
              <a:rPr sz="2750" spc="20" dirty="0">
                <a:latin typeface="Segoe Print"/>
                <a:cs typeface="Segoe Print"/>
              </a:rPr>
              <a:t> </a:t>
            </a:r>
            <a:r>
              <a:rPr sz="2750" dirty="0">
                <a:latin typeface="Segoe Print"/>
                <a:cs typeface="Segoe Print"/>
              </a:rPr>
              <a:t>High</a:t>
            </a:r>
            <a:r>
              <a:rPr sz="2750" spc="20" dirty="0">
                <a:latin typeface="Segoe Print"/>
                <a:cs typeface="Segoe Print"/>
              </a:rPr>
              <a:t> </a:t>
            </a:r>
            <a:r>
              <a:rPr sz="2750" dirty="0">
                <a:latin typeface="Segoe Print"/>
                <a:cs typeface="Segoe Print"/>
              </a:rPr>
              <a:t>level</a:t>
            </a:r>
            <a:r>
              <a:rPr sz="2750" spc="25" dirty="0">
                <a:latin typeface="Segoe Print"/>
                <a:cs typeface="Segoe Print"/>
              </a:rPr>
              <a:t> </a:t>
            </a:r>
            <a:r>
              <a:rPr sz="2750" spc="-10" dirty="0">
                <a:latin typeface="Segoe Print"/>
                <a:cs typeface="Segoe Print"/>
              </a:rPr>
              <a:t>Requirements</a:t>
            </a:r>
            <a:endParaRPr sz="2750">
              <a:latin typeface="Segoe Print"/>
              <a:cs typeface="Segoe Prin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322421" y="1282700"/>
            <a:ext cx="5303520" cy="25400"/>
            <a:chOff x="6322421" y="1282700"/>
            <a:chExt cx="5303520" cy="25400"/>
          </a:xfrm>
        </p:grpSpPr>
        <p:sp>
          <p:nvSpPr>
            <p:cNvPr id="4" name="object 4"/>
            <p:cNvSpPr/>
            <p:nvPr/>
          </p:nvSpPr>
          <p:spPr>
            <a:xfrm>
              <a:off x="6322421" y="1295400"/>
              <a:ext cx="5303520" cy="0"/>
            </a:xfrm>
            <a:custGeom>
              <a:avLst/>
              <a:gdLst/>
              <a:ahLst/>
              <a:cxnLst/>
              <a:rect l="l" t="t" r="r" b="b"/>
              <a:pathLst>
                <a:path w="5303520">
                  <a:moveTo>
                    <a:pt x="5303520" y="1"/>
                  </a:moveTo>
                  <a:lnTo>
                    <a:pt x="0" y="0"/>
                  </a:lnTo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22421" y="1295400"/>
              <a:ext cx="5303520" cy="0"/>
            </a:xfrm>
            <a:custGeom>
              <a:avLst/>
              <a:gdLst/>
              <a:ahLst/>
              <a:cxnLst/>
              <a:rect l="l" t="t" r="r" b="b"/>
              <a:pathLst>
                <a:path w="5303520">
                  <a:moveTo>
                    <a:pt x="0" y="0"/>
                  </a:moveTo>
                  <a:lnTo>
                    <a:pt x="5303520" y="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322421" y="2038553"/>
            <a:ext cx="5303520" cy="25400"/>
            <a:chOff x="6322421" y="2038553"/>
            <a:chExt cx="5303520" cy="25400"/>
          </a:xfrm>
        </p:grpSpPr>
        <p:sp>
          <p:nvSpPr>
            <p:cNvPr id="7" name="object 7"/>
            <p:cNvSpPr/>
            <p:nvPr/>
          </p:nvSpPr>
          <p:spPr>
            <a:xfrm>
              <a:off x="6322421" y="2051253"/>
              <a:ext cx="5303520" cy="0"/>
            </a:xfrm>
            <a:custGeom>
              <a:avLst/>
              <a:gdLst/>
              <a:ahLst/>
              <a:cxnLst/>
              <a:rect l="l" t="t" r="r" b="b"/>
              <a:pathLst>
                <a:path w="5303520">
                  <a:moveTo>
                    <a:pt x="5303520" y="1"/>
                  </a:moveTo>
                  <a:lnTo>
                    <a:pt x="0" y="0"/>
                  </a:lnTo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22421" y="2051253"/>
              <a:ext cx="5303520" cy="0"/>
            </a:xfrm>
            <a:custGeom>
              <a:avLst/>
              <a:gdLst/>
              <a:ahLst/>
              <a:cxnLst/>
              <a:rect l="l" t="t" r="r" b="b"/>
              <a:pathLst>
                <a:path w="5303520">
                  <a:moveTo>
                    <a:pt x="0" y="0"/>
                  </a:moveTo>
                  <a:lnTo>
                    <a:pt x="5303520" y="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322421" y="2792195"/>
            <a:ext cx="5303520" cy="25400"/>
            <a:chOff x="6322421" y="2792195"/>
            <a:chExt cx="5303520" cy="25400"/>
          </a:xfrm>
        </p:grpSpPr>
        <p:sp>
          <p:nvSpPr>
            <p:cNvPr id="10" name="object 10"/>
            <p:cNvSpPr/>
            <p:nvPr/>
          </p:nvSpPr>
          <p:spPr>
            <a:xfrm>
              <a:off x="6322421" y="2804895"/>
              <a:ext cx="5303520" cy="0"/>
            </a:xfrm>
            <a:custGeom>
              <a:avLst/>
              <a:gdLst/>
              <a:ahLst/>
              <a:cxnLst/>
              <a:rect l="l" t="t" r="r" b="b"/>
              <a:pathLst>
                <a:path w="5303520">
                  <a:moveTo>
                    <a:pt x="5303520" y="1"/>
                  </a:moveTo>
                  <a:lnTo>
                    <a:pt x="0" y="0"/>
                  </a:lnTo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22421" y="2804895"/>
              <a:ext cx="5303520" cy="0"/>
            </a:xfrm>
            <a:custGeom>
              <a:avLst/>
              <a:gdLst/>
              <a:ahLst/>
              <a:cxnLst/>
              <a:rect l="l" t="t" r="r" b="b"/>
              <a:pathLst>
                <a:path w="5303520">
                  <a:moveTo>
                    <a:pt x="0" y="0"/>
                  </a:moveTo>
                  <a:lnTo>
                    <a:pt x="5303520" y="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322421" y="3545840"/>
            <a:ext cx="5303520" cy="25400"/>
            <a:chOff x="6322421" y="3545840"/>
            <a:chExt cx="5303520" cy="25400"/>
          </a:xfrm>
        </p:grpSpPr>
        <p:sp>
          <p:nvSpPr>
            <p:cNvPr id="13" name="object 13"/>
            <p:cNvSpPr/>
            <p:nvPr/>
          </p:nvSpPr>
          <p:spPr>
            <a:xfrm>
              <a:off x="6322421" y="3558540"/>
              <a:ext cx="5303520" cy="0"/>
            </a:xfrm>
            <a:custGeom>
              <a:avLst/>
              <a:gdLst/>
              <a:ahLst/>
              <a:cxnLst/>
              <a:rect l="l" t="t" r="r" b="b"/>
              <a:pathLst>
                <a:path w="5303520">
                  <a:moveTo>
                    <a:pt x="5303520" y="1"/>
                  </a:moveTo>
                  <a:lnTo>
                    <a:pt x="0" y="0"/>
                  </a:lnTo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22421" y="3558540"/>
              <a:ext cx="5303520" cy="0"/>
            </a:xfrm>
            <a:custGeom>
              <a:avLst/>
              <a:gdLst/>
              <a:ahLst/>
              <a:cxnLst/>
              <a:rect l="l" t="t" r="r" b="b"/>
              <a:pathLst>
                <a:path w="5303520">
                  <a:moveTo>
                    <a:pt x="0" y="0"/>
                  </a:moveTo>
                  <a:lnTo>
                    <a:pt x="5303520" y="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322421" y="4299483"/>
            <a:ext cx="5303520" cy="25400"/>
            <a:chOff x="6322421" y="4299483"/>
            <a:chExt cx="5303520" cy="25400"/>
          </a:xfrm>
        </p:grpSpPr>
        <p:sp>
          <p:nvSpPr>
            <p:cNvPr id="16" name="object 16"/>
            <p:cNvSpPr/>
            <p:nvPr/>
          </p:nvSpPr>
          <p:spPr>
            <a:xfrm>
              <a:off x="6322421" y="4312183"/>
              <a:ext cx="5303520" cy="0"/>
            </a:xfrm>
            <a:custGeom>
              <a:avLst/>
              <a:gdLst/>
              <a:ahLst/>
              <a:cxnLst/>
              <a:rect l="l" t="t" r="r" b="b"/>
              <a:pathLst>
                <a:path w="5303520">
                  <a:moveTo>
                    <a:pt x="5303520" y="0"/>
                  </a:moveTo>
                  <a:lnTo>
                    <a:pt x="0" y="0"/>
                  </a:lnTo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22421" y="4312183"/>
              <a:ext cx="5303520" cy="0"/>
            </a:xfrm>
            <a:custGeom>
              <a:avLst/>
              <a:gdLst/>
              <a:ahLst/>
              <a:cxnLst/>
              <a:rect l="l" t="t" r="r" b="b"/>
              <a:pathLst>
                <a:path w="5303520">
                  <a:moveTo>
                    <a:pt x="0" y="0"/>
                  </a:moveTo>
                  <a:lnTo>
                    <a:pt x="5303520" y="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322421" y="5053125"/>
            <a:ext cx="5303520" cy="25400"/>
            <a:chOff x="6322421" y="5053125"/>
            <a:chExt cx="5303520" cy="25400"/>
          </a:xfrm>
        </p:grpSpPr>
        <p:sp>
          <p:nvSpPr>
            <p:cNvPr id="19" name="object 19"/>
            <p:cNvSpPr/>
            <p:nvPr/>
          </p:nvSpPr>
          <p:spPr>
            <a:xfrm>
              <a:off x="6322421" y="5065825"/>
              <a:ext cx="5303520" cy="0"/>
            </a:xfrm>
            <a:custGeom>
              <a:avLst/>
              <a:gdLst/>
              <a:ahLst/>
              <a:cxnLst/>
              <a:rect l="l" t="t" r="r" b="b"/>
              <a:pathLst>
                <a:path w="5303520">
                  <a:moveTo>
                    <a:pt x="5303520" y="1"/>
                  </a:moveTo>
                  <a:lnTo>
                    <a:pt x="0" y="0"/>
                  </a:lnTo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22421" y="5065825"/>
              <a:ext cx="5303520" cy="0"/>
            </a:xfrm>
            <a:custGeom>
              <a:avLst/>
              <a:gdLst/>
              <a:ahLst/>
              <a:cxnLst/>
              <a:rect l="l" t="t" r="r" b="b"/>
              <a:pathLst>
                <a:path w="5303520">
                  <a:moveTo>
                    <a:pt x="0" y="0"/>
                  </a:moveTo>
                  <a:lnTo>
                    <a:pt x="5303520" y="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240"/>
              </a:spcBef>
            </a:pPr>
            <a:r>
              <a:rPr spc="-10" dirty="0"/>
              <a:t>Employees</a:t>
            </a:r>
            <a:r>
              <a:rPr spc="-40" dirty="0"/>
              <a:t> </a:t>
            </a:r>
            <a:r>
              <a:rPr dirty="0"/>
              <a:t>log</a:t>
            </a:r>
            <a:r>
              <a:rPr spc="-35" dirty="0"/>
              <a:t> </a:t>
            </a:r>
            <a:r>
              <a:rPr dirty="0"/>
              <a:t>into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system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submit</a:t>
            </a:r>
            <a:r>
              <a:rPr spc="-35" dirty="0"/>
              <a:t> </a:t>
            </a:r>
            <a:r>
              <a:rPr dirty="0"/>
              <a:t>weekly</a:t>
            </a:r>
            <a:r>
              <a:rPr spc="-35" dirty="0"/>
              <a:t> </a:t>
            </a:r>
            <a:r>
              <a:rPr spc="-10" dirty="0"/>
              <a:t>feedback</a:t>
            </a:r>
            <a:r>
              <a:rPr spc="-30" dirty="0"/>
              <a:t> </a:t>
            </a:r>
            <a:r>
              <a:rPr spc="-10" dirty="0"/>
              <a:t>about </a:t>
            </a:r>
            <a:r>
              <a:rPr dirty="0"/>
              <a:t>their</a:t>
            </a:r>
            <a:r>
              <a:rPr spc="-50" dirty="0"/>
              <a:t> </a:t>
            </a:r>
            <a:r>
              <a:rPr dirty="0"/>
              <a:t>stress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0" dirty="0"/>
              <a:t> </a:t>
            </a:r>
            <a:r>
              <a:rPr dirty="0"/>
              <a:t>workload,</a:t>
            </a:r>
            <a:r>
              <a:rPr spc="-50" dirty="0"/>
              <a:t> </a:t>
            </a:r>
            <a:r>
              <a:rPr dirty="0"/>
              <a:t>emotional</a:t>
            </a:r>
            <a:r>
              <a:rPr spc="-55" dirty="0"/>
              <a:t> </a:t>
            </a:r>
            <a:r>
              <a:rPr spc="-10" dirty="0"/>
              <a:t>state,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work</a:t>
            </a:r>
            <a:r>
              <a:rPr spc="-50" dirty="0"/>
              <a:t> </a:t>
            </a:r>
            <a:r>
              <a:rPr spc="-10" dirty="0"/>
              <a:t>experience.</a:t>
            </a: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pc="-10" dirty="0"/>
          </a:p>
          <a:p>
            <a:pPr marL="12700" marR="196850">
              <a:lnSpc>
                <a:spcPts val="1700"/>
              </a:lnSpc>
            </a:pP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system</a:t>
            </a:r>
            <a:r>
              <a:rPr spc="-35" dirty="0"/>
              <a:t> </a:t>
            </a:r>
            <a:r>
              <a:rPr spc="-10" dirty="0"/>
              <a:t>collects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stores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feedback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securely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25" dirty="0"/>
              <a:t>the </a:t>
            </a:r>
            <a:r>
              <a:rPr spc="-10" dirty="0"/>
              <a:t>database.</a:t>
            </a: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pc="-10" dirty="0"/>
          </a:p>
          <a:p>
            <a:pPr marL="12700" marR="353060">
              <a:lnSpc>
                <a:spcPts val="1700"/>
              </a:lnSpc>
            </a:pPr>
            <a:r>
              <a:rPr spc="-10" dirty="0"/>
              <a:t>AI-</a:t>
            </a:r>
            <a:r>
              <a:rPr dirty="0"/>
              <a:t>based</a:t>
            </a:r>
            <a:r>
              <a:rPr spc="-40" dirty="0"/>
              <a:t> </a:t>
            </a:r>
            <a:r>
              <a:rPr spc="-10" dirty="0"/>
              <a:t>sentiment</a:t>
            </a:r>
            <a:r>
              <a:rPr spc="-40" dirty="0"/>
              <a:t> </a:t>
            </a:r>
            <a:r>
              <a:rPr dirty="0"/>
              <a:t>analysis</a:t>
            </a:r>
            <a:r>
              <a:rPr spc="-35" dirty="0"/>
              <a:t> </a:t>
            </a:r>
            <a:r>
              <a:rPr dirty="0"/>
              <a:t>processes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textual</a:t>
            </a:r>
            <a:r>
              <a:rPr spc="-35" dirty="0"/>
              <a:t> </a:t>
            </a:r>
            <a:r>
              <a:rPr spc="-10" dirty="0"/>
              <a:t>feedback</a:t>
            </a:r>
            <a:r>
              <a:rPr spc="-35" dirty="0"/>
              <a:t> </a:t>
            </a:r>
            <a:r>
              <a:rPr spc="-25" dirty="0"/>
              <a:t>to </a:t>
            </a:r>
            <a:r>
              <a:rPr dirty="0"/>
              <a:t>identify</a:t>
            </a:r>
            <a:r>
              <a:rPr spc="-50" dirty="0"/>
              <a:t> </a:t>
            </a:r>
            <a:r>
              <a:rPr dirty="0"/>
              <a:t>positive,</a:t>
            </a:r>
            <a:r>
              <a:rPr spc="-45" dirty="0"/>
              <a:t> </a:t>
            </a:r>
            <a:r>
              <a:rPr dirty="0"/>
              <a:t>neutral,</a:t>
            </a:r>
            <a:r>
              <a:rPr spc="-45" dirty="0"/>
              <a:t> </a:t>
            </a:r>
            <a:r>
              <a:rPr dirty="0"/>
              <a:t>or</a:t>
            </a:r>
            <a:r>
              <a:rPr spc="-50" dirty="0"/>
              <a:t> </a:t>
            </a:r>
            <a:r>
              <a:rPr spc="-10" dirty="0"/>
              <a:t>negative</a:t>
            </a:r>
            <a:r>
              <a:rPr spc="-45" dirty="0"/>
              <a:t> </a:t>
            </a:r>
            <a:r>
              <a:rPr spc="-10" dirty="0"/>
              <a:t>sentiment.</a:t>
            </a: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pc="-10" dirty="0"/>
          </a:p>
          <a:p>
            <a:pPr marL="12700" marR="8255">
              <a:lnSpc>
                <a:spcPts val="1700"/>
              </a:lnSpc>
              <a:spcBef>
                <a:spcPts val="5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system</a:t>
            </a:r>
            <a:r>
              <a:rPr spc="-35" dirty="0"/>
              <a:t> </a:t>
            </a:r>
            <a:r>
              <a:rPr spc="-10" dirty="0"/>
              <a:t>evaluates</a:t>
            </a:r>
            <a:r>
              <a:rPr spc="-30" dirty="0"/>
              <a:t> </a:t>
            </a:r>
            <a:r>
              <a:rPr dirty="0"/>
              <a:t>stress</a:t>
            </a:r>
            <a:r>
              <a:rPr spc="-35" dirty="0"/>
              <a:t> </a:t>
            </a:r>
            <a:r>
              <a:rPr dirty="0"/>
              <a:t>levels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sentiment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determine</a:t>
            </a:r>
            <a:r>
              <a:rPr spc="-30" dirty="0"/>
              <a:t> </a:t>
            </a:r>
            <a:r>
              <a:rPr spc="-25" dirty="0"/>
              <a:t>the </a:t>
            </a:r>
            <a:r>
              <a:rPr spc="-20" dirty="0"/>
              <a:t>employee’s</a:t>
            </a:r>
            <a:r>
              <a:rPr spc="-35" dirty="0"/>
              <a:t> </a:t>
            </a:r>
            <a:r>
              <a:rPr dirty="0"/>
              <a:t>burnout</a:t>
            </a:r>
            <a:r>
              <a:rPr spc="-35" dirty="0"/>
              <a:t> </a:t>
            </a:r>
            <a:r>
              <a:rPr dirty="0"/>
              <a:t>risk</a:t>
            </a:r>
            <a:r>
              <a:rPr spc="-30" dirty="0"/>
              <a:t> </a:t>
            </a:r>
            <a:r>
              <a:rPr spc="-20" dirty="0"/>
              <a:t>(Low,</a:t>
            </a:r>
            <a:r>
              <a:rPr spc="-30" dirty="0"/>
              <a:t> </a:t>
            </a:r>
            <a:r>
              <a:rPr spc="-10" dirty="0"/>
              <a:t>Moderate,</a:t>
            </a:r>
            <a:r>
              <a:rPr spc="-30" dirty="0"/>
              <a:t> </a:t>
            </a:r>
            <a:r>
              <a:rPr spc="-10" dirty="0"/>
              <a:t>High).</a:t>
            </a: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pc="-10" dirty="0"/>
          </a:p>
          <a:p>
            <a:pPr marL="12700" marR="661035">
              <a:lnSpc>
                <a:spcPts val="1680"/>
              </a:lnSpc>
            </a:pPr>
            <a:r>
              <a:rPr spc="-10" dirty="0"/>
              <a:t>Employees</a:t>
            </a:r>
            <a:r>
              <a:rPr spc="-45" dirty="0"/>
              <a:t> </a:t>
            </a:r>
            <a:r>
              <a:rPr dirty="0"/>
              <a:t>receive</a:t>
            </a:r>
            <a:r>
              <a:rPr spc="-40" dirty="0"/>
              <a:t> </a:t>
            </a:r>
            <a:r>
              <a:rPr dirty="0"/>
              <a:t>personal</a:t>
            </a:r>
            <a:r>
              <a:rPr spc="-40" dirty="0"/>
              <a:t> </a:t>
            </a:r>
            <a:r>
              <a:rPr spc="-20" dirty="0"/>
              <a:t>well-</a:t>
            </a:r>
            <a:r>
              <a:rPr dirty="0"/>
              <a:t>being</a:t>
            </a:r>
            <a:r>
              <a:rPr spc="-40" dirty="0"/>
              <a:t> </a:t>
            </a:r>
            <a:r>
              <a:rPr dirty="0"/>
              <a:t>reports</a:t>
            </a:r>
            <a:r>
              <a:rPr spc="-45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spc="-10" dirty="0"/>
              <a:t>stress summaries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suggestions.</a:t>
            </a: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pc="-10" dirty="0"/>
          </a:p>
          <a:p>
            <a:pPr marL="12700" marR="74295">
              <a:lnSpc>
                <a:spcPts val="1700"/>
              </a:lnSpc>
            </a:pPr>
            <a:r>
              <a:rPr dirty="0"/>
              <a:t>Managers</a:t>
            </a:r>
            <a:r>
              <a:rPr spc="-70" dirty="0"/>
              <a:t> </a:t>
            </a:r>
            <a:r>
              <a:rPr dirty="0"/>
              <a:t>access</a:t>
            </a:r>
            <a:r>
              <a:rPr spc="-65" dirty="0"/>
              <a:t> </a:t>
            </a:r>
            <a:r>
              <a:rPr dirty="0"/>
              <a:t>dashboards</a:t>
            </a:r>
            <a:r>
              <a:rPr spc="-65" dirty="0"/>
              <a:t> </a:t>
            </a:r>
            <a:r>
              <a:rPr dirty="0"/>
              <a:t>showing</a:t>
            </a:r>
            <a:r>
              <a:rPr spc="-65" dirty="0"/>
              <a:t> </a:t>
            </a:r>
            <a:r>
              <a:rPr dirty="0"/>
              <a:t>team</a:t>
            </a:r>
            <a:r>
              <a:rPr spc="-65" dirty="0"/>
              <a:t> </a:t>
            </a:r>
            <a:r>
              <a:rPr dirty="0"/>
              <a:t>stress</a:t>
            </a:r>
            <a:r>
              <a:rPr spc="-65" dirty="0"/>
              <a:t> </a:t>
            </a:r>
            <a:r>
              <a:rPr dirty="0"/>
              <a:t>levels,</a:t>
            </a:r>
            <a:r>
              <a:rPr spc="-60" dirty="0"/>
              <a:t> </a:t>
            </a:r>
            <a:r>
              <a:rPr spc="-10" dirty="0"/>
              <a:t>burnout </a:t>
            </a:r>
            <a:r>
              <a:rPr dirty="0"/>
              <a:t>risks,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weekly</a:t>
            </a:r>
            <a:r>
              <a:rPr spc="-40" dirty="0"/>
              <a:t> </a:t>
            </a:r>
            <a:r>
              <a:rPr dirty="0"/>
              <a:t>trends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support</a:t>
            </a:r>
            <a:r>
              <a:rPr spc="-45" dirty="0"/>
              <a:t> </a:t>
            </a:r>
            <a:r>
              <a:rPr dirty="0"/>
              <a:t>better</a:t>
            </a:r>
            <a:r>
              <a:rPr spc="-40" dirty="0"/>
              <a:t> </a:t>
            </a:r>
            <a:r>
              <a:rPr spc="-10" dirty="0"/>
              <a:t>decision-making.</a:t>
            </a: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426" y="914400"/>
            <a:ext cx="5769573" cy="47259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083563"/>
            <a:ext cx="8686800" cy="46908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156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00"/>
              </a:spcBef>
            </a:pPr>
            <a:r>
              <a:rPr dirty="0"/>
              <a:t>Proof</a:t>
            </a:r>
            <a:r>
              <a:rPr spc="-9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Concept</a:t>
            </a:r>
            <a:r>
              <a:rPr spc="-90" dirty="0"/>
              <a:t> </a:t>
            </a:r>
            <a:r>
              <a:rPr dirty="0"/>
              <a:t>(PoC)</a:t>
            </a:r>
            <a:r>
              <a:rPr spc="-90" dirty="0"/>
              <a:t> </a:t>
            </a:r>
            <a:r>
              <a:rPr dirty="0"/>
              <a:t>/</a:t>
            </a:r>
            <a:r>
              <a:rPr spc="-90" dirty="0"/>
              <a:t> </a:t>
            </a:r>
            <a:r>
              <a:rPr dirty="0"/>
              <a:t>Prototype</a:t>
            </a:r>
            <a:r>
              <a:rPr spc="-60" dirty="0"/>
              <a:t> </a:t>
            </a:r>
            <a:r>
              <a:rPr spc="-20" dirty="0"/>
              <a:t>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974121"/>
            <a:ext cx="9220200" cy="49097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107" rIns="0" bIns="0" rtlCol="0">
            <a:spAutoFit/>
          </a:bodyPr>
          <a:lstStyle/>
          <a:p>
            <a:pPr marL="666115">
              <a:lnSpc>
                <a:spcPct val="100000"/>
              </a:lnSpc>
              <a:spcBef>
                <a:spcPts val="100"/>
              </a:spcBef>
            </a:pPr>
            <a:r>
              <a:rPr dirty="0"/>
              <a:t>Proof</a:t>
            </a:r>
            <a:r>
              <a:rPr spc="-9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Concept</a:t>
            </a:r>
            <a:r>
              <a:rPr spc="-90" dirty="0"/>
              <a:t> </a:t>
            </a:r>
            <a:r>
              <a:rPr dirty="0"/>
              <a:t>(PoC)</a:t>
            </a:r>
            <a:r>
              <a:rPr spc="-90" dirty="0"/>
              <a:t> </a:t>
            </a:r>
            <a:r>
              <a:rPr dirty="0"/>
              <a:t>/</a:t>
            </a:r>
            <a:r>
              <a:rPr spc="-90" dirty="0"/>
              <a:t> </a:t>
            </a:r>
            <a:r>
              <a:rPr dirty="0"/>
              <a:t>Prototype</a:t>
            </a:r>
            <a:r>
              <a:rPr spc="-60" dirty="0"/>
              <a:t> </a:t>
            </a:r>
            <a:r>
              <a:rPr spc="-20" dirty="0"/>
              <a:t>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065348"/>
            <a:ext cx="9296400" cy="4681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156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00"/>
              </a:spcBef>
            </a:pPr>
            <a:r>
              <a:rPr dirty="0"/>
              <a:t>Proof</a:t>
            </a:r>
            <a:r>
              <a:rPr spc="-9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Concept</a:t>
            </a:r>
            <a:r>
              <a:rPr spc="-90" dirty="0"/>
              <a:t> </a:t>
            </a:r>
            <a:r>
              <a:rPr dirty="0"/>
              <a:t>(PoC)</a:t>
            </a:r>
            <a:r>
              <a:rPr spc="-90" dirty="0"/>
              <a:t> </a:t>
            </a:r>
            <a:r>
              <a:rPr dirty="0"/>
              <a:t>/</a:t>
            </a:r>
            <a:r>
              <a:rPr spc="-90" dirty="0"/>
              <a:t> </a:t>
            </a:r>
            <a:r>
              <a:rPr dirty="0"/>
              <a:t>Prototype</a:t>
            </a:r>
            <a:r>
              <a:rPr spc="-60" dirty="0"/>
              <a:t> </a:t>
            </a:r>
            <a:r>
              <a:rPr spc="-20" dirty="0"/>
              <a:t>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220152"/>
            <a:ext cx="9448800" cy="44948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348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Proof</a:t>
            </a:r>
            <a:r>
              <a:rPr sz="2800" spc="-120" dirty="0"/>
              <a:t> </a:t>
            </a:r>
            <a:r>
              <a:rPr sz="2800" dirty="0"/>
              <a:t>of</a:t>
            </a:r>
            <a:r>
              <a:rPr sz="2800" spc="-100" dirty="0"/>
              <a:t> </a:t>
            </a:r>
            <a:r>
              <a:rPr sz="2800" dirty="0"/>
              <a:t>Concept</a:t>
            </a:r>
            <a:r>
              <a:rPr sz="2800" spc="-105" dirty="0"/>
              <a:t> </a:t>
            </a:r>
            <a:r>
              <a:rPr sz="2800" dirty="0"/>
              <a:t>(PoC)</a:t>
            </a:r>
            <a:r>
              <a:rPr sz="2800" spc="-105" dirty="0"/>
              <a:t> </a:t>
            </a:r>
            <a:r>
              <a:rPr dirty="0"/>
              <a:t>/</a:t>
            </a:r>
            <a:r>
              <a:rPr spc="-200" dirty="0"/>
              <a:t> </a:t>
            </a:r>
            <a:r>
              <a:rPr sz="2800" dirty="0"/>
              <a:t>Prototype</a:t>
            </a:r>
            <a:r>
              <a:rPr sz="2800" spc="-90" dirty="0"/>
              <a:t> </a:t>
            </a:r>
            <a:r>
              <a:rPr sz="2800" spc="-20" dirty="0"/>
              <a:t>Demo</a:t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64674"/>
            <a:ext cx="9982200" cy="4842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156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00"/>
              </a:spcBef>
            </a:pPr>
            <a:r>
              <a:rPr dirty="0"/>
              <a:t>Proof</a:t>
            </a:r>
            <a:r>
              <a:rPr spc="-9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Concept</a:t>
            </a:r>
            <a:r>
              <a:rPr spc="-90" dirty="0"/>
              <a:t> </a:t>
            </a:r>
            <a:r>
              <a:rPr dirty="0"/>
              <a:t>(PoC)</a:t>
            </a:r>
            <a:r>
              <a:rPr spc="-90" dirty="0"/>
              <a:t> </a:t>
            </a:r>
            <a:r>
              <a:rPr dirty="0"/>
              <a:t>/</a:t>
            </a:r>
            <a:r>
              <a:rPr spc="-90" dirty="0"/>
              <a:t> </a:t>
            </a:r>
            <a:r>
              <a:rPr dirty="0"/>
              <a:t>Prototype</a:t>
            </a:r>
            <a:r>
              <a:rPr spc="-60" dirty="0"/>
              <a:t> </a:t>
            </a:r>
            <a:r>
              <a:rPr spc="-20" dirty="0"/>
              <a:t>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991" y="952500"/>
            <a:ext cx="10134015" cy="4952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156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00"/>
              </a:spcBef>
            </a:pPr>
            <a:r>
              <a:rPr dirty="0"/>
              <a:t>Proof</a:t>
            </a:r>
            <a:r>
              <a:rPr spc="-9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Concept</a:t>
            </a:r>
            <a:r>
              <a:rPr spc="-90" dirty="0"/>
              <a:t> </a:t>
            </a:r>
            <a:r>
              <a:rPr dirty="0"/>
              <a:t>(PoC)</a:t>
            </a:r>
            <a:r>
              <a:rPr spc="-90" dirty="0"/>
              <a:t> </a:t>
            </a:r>
            <a:r>
              <a:rPr dirty="0"/>
              <a:t>/</a:t>
            </a:r>
            <a:r>
              <a:rPr spc="-90" dirty="0"/>
              <a:t> </a:t>
            </a:r>
            <a:r>
              <a:rPr dirty="0"/>
              <a:t>Prototype</a:t>
            </a:r>
            <a:r>
              <a:rPr spc="-60" dirty="0"/>
              <a:t> </a:t>
            </a:r>
            <a:r>
              <a:rPr spc="-20" dirty="0"/>
              <a:t>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188855"/>
            <a:ext cx="10591800" cy="44802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156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00"/>
              </a:spcBef>
            </a:pPr>
            <a:r>
              <a:rPr dirty="0"/>
              <a:t>Proof</a:t>
            </a:r>
            <a:r>
              <a:rPr spc="-9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Concept</a:t>
            </a:r>
            <a:r>
              <a:rPr spc="-90" dirty="0"/>
              <a:t> </a:t>
            </a:r>
            <a:r>
              <a:rPr dirty="0"/>
              <a:t>(PoC)</a:t>
            </a:r>
            <a:r>
              <a:rPr spc="-90" dirty="0"/>
              <a:t> </a:t>
            </a:r>
            <a:r>
              <a:rPr dirty="0"/>
              <a:t>/</a:t>
            </a:r>
            <a:r>
              <a:rPr spc="-90" dirty="0"/>
              <a:t> </a:t>
            </a:r>
            <a:r>
              <a:rPr dirty="0"/>
              <a:t>Prototype</a:t>
            </a:r>
            <a:r>
              <a:rPr spc="-60" dirty="0"/>
              <a:t> </a:t>
            </a:r>
            <a:r>
              <a:rPr spc="-20" dirty="0"/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1150</Words>
  <Application>Microsoft Office PowerPoint</Application>
  <PresentationFormat>Widescreen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MT</vt:lpstr>
      <vt:lpstr>Calibri</vt:lpstr>
      <vt:lpstr>Segoe Print</vt:lpstr>
      <vt:lpstr>Times New Roman</vt:lpstr>
      <vt:lpstr>Office Theme</vt:lpstr>
      <vt:lpstr>School of Computer Science &amp; Engineering AI Application Development – IA1</vt:lpstr>
      <vt:lpstr>Team members &amp; roles</vt:lpstr>
      <vt:lpstr>Problem Statement</vt:lpstr>
      <vt:lpstr>User/ Customer Understanding</vt:lpstr>
      <vt:lpstr>Ideal Customer Profile (ICP)</vt:lpstr>
      <vt:lpstr>Customer Persona (CP)</vt:lpstr>
      <vt:lpstr>Customer Persona (CP)</vt:lpstr>
      <vt:lpstr>Product USP</vt:lpstr>
      <vt:lpstr>Use Cases &amp; High level Requirements</vt:lpstr>
      <vt:lpstr>Proof of Concept (PoC) / Prototype Demo</vt:lpstr>
      <vt:lpstr>Proof of Concept (PoC) / Prototype Demo</vt:lpstr>
      <vt:lpstr>Proof of Concept (PoC) / Prototype Demo</vt:lpstr>
      <vt:lpstr>Proof of Concept (PoC) / Prototype Demo</vt:lpstr>
      <vt:lpstr>Proof of Concept (PoC) / Prototype Demo</vt:lpstr>
      <vt:lpstr>Proof of Concept (PoC) / Prototype Demo</vt:lpstr>
      <vt:lpstr>Proof of Concept (PoC) / Prototype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pranav prakashan</dc:creator>
  <cp:lastModifiedBy>pranav prakashan</cp:lastModifiedBy>
  <cp:revision>1</cp:revision>
  <dcterms:created xsi:type="dcterms:W3CDTF">2026-03-28T03:26:56Z</dcterms:created>
  <dcterms:modified xsi:type="dcterms:W3CDTF">2026-03-28T03:41:13Z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2026-03-27T00:00:00Z</vt:filetime>
  </property>
  <property fmtid="{D5CDD505-2E9C-101B-9397-08002B2CF9AE}" pid="3" name="LastSaved">
    <vt:filetime>2026-03-28T00:00:00Z</vt:filetime>
  </property>
  <property fmtid="{D5CDD505-2E9C-101B-9397-08002B2CF9AE}" pid="4" name="Producer">
    <vt:lpwstr>macOS Version 26.1 (Build 25B78) Quartz PDFContext</vt:lpwstr>
  </property>
</Properties>
</file>