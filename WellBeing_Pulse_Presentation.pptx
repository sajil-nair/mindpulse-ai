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228600" cy="480974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0A500"/>
                </a:solidFill>
              </a:rPr>
              <a:t>REVA UNIVERSITY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8F8"/>
                </a:solidFill>
              </a:rPr>
              <a:t>School of Computer Science and Engineering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28800" y="859536"/>
            <a:ext cx="54864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AI-Based Weekly Employee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Well-Being Pulse System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834640" y="2514600"/>
            <a:ext cx="3474720" cy="329184"/>
          </a:xfrm>
          <a:prstGeom prst="rect">
            <a:avLst/>
          </a:prstGeom>
          <a:solidFill>
            <a:srgbClr val="1E579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5146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6E8F8"/>
                </a:solidFill>
              </a:rPr>
              <a:t>Monitoring  ·  AI Analysis  ·  Burnout Prevention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828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99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A500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B Shastry              SRN: R23EF233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Prakashan            SRN: R23EF187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A500"/>
                </a:solidFill>
              </a:rPr>
              <a:t>GUIDE DETAILS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327355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8"/>
                </a:solidFill>
              </a:rPr>
              <a:t>Guide Name:  Prof. Shankar Rana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</a:rPr>
              <a:t>Mini Project Presentation  |  Phase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1529"/>
          </a:solidFill>
          <a:ln w="12700">
            <a:solidFill>
              <a:srgbClr val="0615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8289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1 / 12</a:t>
            </a:r>
            <a:endParaRPr lang="en-US" sz="800" dirty="0"/>
          </a:p>
        </p:txBody>
      </p:sp>
      <p:pic>
        <p:nvPicPr>
          <p:cNvPr id="1026" name="Picture 2" descr="About University | REVA University">
            <a:extLst>
              <a:ext uri="{FF2B5EF4-FFF2-40B4-BE49-F238E27FC236}">
                <a16:creationId xmlns:a16="http://schemas.microsoft.com/office/drawing/2014/main" id="{F2085588-1E60-FFB5-0845-EFC5D950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437" y="219456"/>
            <a:ext cx="297341" cy="31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313288-2E0F-C947-EEA1-9EA3E9CF66CB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      </a:t>
            </a:r>
            <a:r>
              <a:rPr lang="en-US" sz="2400" b="1" dirty="0">
                <a:solidFill>
                  <a:srgbClr val="FFFFFF"/>
                </a:solidFill>
              </a:rPr>
              <a:t>AI-Based Weekly Employee</a:t>
            </a:r>
            <a:endParaRPr lang="en-US" sz="2400" dirty="0"/>
          </a:p>
          <a:p>
            <a:r>
              <a:rPr lang="en-US" sz="2400" b="1" dirty="0">
                <a:solidFill>
                  <a:srgbClr val="FFFFFF"/>
                </a:solidFill>
              </a:rPr>
              <a:t>      Well-Being Pulse System</a:t>
            </a:r>
            <a:endParaRPr lang="en-US" sz="2400" dirty="0"/>
          </a:p>
          <a:p>
            <a:endParaRPr lang="en-IN" dirty="0"/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124085C2-3702-D1EB-A610-D7CA96AE69E7}"/>
              </a:ext>
            </a:extLst>
          </p:cNvPr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C9FBCE1-526A-A106-4593-76D8FDC8D797}"/>
              </a:ext>
            </a:extLst>
          </p:cNvPr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4D8AB-420D-8566-A7B0-99DAF23F98C0}"/>
              </a:ext>
            </a:extLst>
          </p:cNvPr>
          <p:cNvSpPr txBox="1"/>
          <p:nvPr/>
        </p:nvSpPr>
        <p:spPr>
          <a:xfrm>
            <a:off x="569742" y="974830"/>
            <a:ext cx="857425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no: D25</a:t>
            </a:r>
          </a:p>
          <a:p>
            <a:r>
              <a:rPr lang="en-US" dirty="0"/>
              <a:t>Group name:-</a:t>
            </a:r>
            <a:r>
              <a:rPr lang="en-IN" dirty="0"/>
              <a:t>Wellbeing Analytics Team</a:t>
            </a:r>
          </a:p>
          <a:p>
            <a:r>
              <a:rPr lang="en-ID" dirty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Group Members:</a:t>
            </a:r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Pranav AJITH           SRN: 187 </a:t>
            </a:r>
            <a:r>
              <a:rPr lang="en-US" dirty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     Project Leader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SAJIL S NAIR            SRN: 233        </a:t>
            </a:r>
            <a:r>
              <a:rPr lang="en-US" dirty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Developer Lead</a:t>
            </a:r>
            <a:endParaRPr lang="en-US" dirty="0"/>
          </a:p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Pranav AJITH           SRN: 187       </a:t>
            </a:r>
            <a:r>
              <a:rPr lang="en-US" dirty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Documenter Lead</a:t>
            </a:r>
            <a:endParaRPr lang="en-US" dirty="0"/>
          </a:p>
          <a:p>
            <a:r>
              <a:rPr lang="en-ID" dirty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              </a:t>
            </a:r>
          </a:p>
          <a:p>
            <a:endParaRPr lang="en-ID" dirty="0"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endParaRPr lang="en-ID" dirty="0"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lvl="0">
              <a:lnSpc>
                <a:spcPct val="150000"/>
              </a:lnSpc>
            </a:pPr>
            <a:r>
              <a:rPr lang="en-ID" sz="1400" dirty="0">
                <a:ea typeface="Roboto" panose="02000000000000000000" pitchFamily="2" charset="0"/>
                <a:cs typeface="Poppins" pitchFamily="2" charset="77"/>
              </a:rPr>
              <a:t>                                                                                                                   </a:t>
            </a:r>
            <a:r>
              <a:rPr lang="en-US" sz="1400" dirty="0">
                <a:ea typeface="Roboto Condensed" panose="02000000000000000000" pitchFamily="2" charset="0"/>
                <a:cs typeface="Poppins" panose="00000500000000000000" pitchFamily="2" charset="0"/>
              </a:rPr>
              <a:t>Name of the Guide: Prof. Shankar Rana</a:t>
            </a:r>
          </a:p>
          <a:p>
            <a:pPr lvl="0">
              <a:lnSpc>
                <a:spcPct val="150000"/>
              </a:lnSpc>
            </a:pPr>
            <a:r>
              <a:rPr lang="en-US" sz="1400" dirty="0">
                <a:ea typeface="Roboto Condensed" panose="02000000000000000000" pitchFamily="2" charset="0"/>
                <a:cs typeface="Poppins" panose="00000500000000000000" pitchFamily="2" charset="0"/>
              </a:rPr>
              <a:t>                                                                                                                                Designation: Assistant Professor</a:t>
            </a:r>
          </a:p>
          <a:p>
            <a:endParaRPr lang="en-ID" dirty="0"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endParaRPr lang="en-ID" dirty="0"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endParaRPr lang="en-US" b="1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055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Table of Contents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024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82496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824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9222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Project Scope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50592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05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32186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18688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186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2841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Requirement and Cost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86784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867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09651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Developing Project Execution Timelines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914400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144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024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Modules Identified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68249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682496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6824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79222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Draft of Acceptance / Survey Paper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45059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450592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4505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25603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Conclusions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754880" y="321868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18688"/>
            <a:ext cx="4572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2186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332841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2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  |  Planning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Problem Identification, Objectives &amp; Project Rationale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Sales &amp; customer support employees face continuous, high-pressure workloads with little visibility into their mental health trajectory.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Performance targets create persistent anxiety; stress accumulates silently over weeks before becoming visible.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Traditional HR processes are reactive — burnout is detected only after productivity has already dropped significantly.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No structured, data-driven mechanism exists to measure employee emotional health on a weekly cadence.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Absence of early-warning systems means managers cannot intervene proactively before burnout occurs.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Planning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298448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Design a lightweight weekly survey mechanism that captures both quantitative ratings and qualitative free-text responses.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Integrate AI-powered Natural Language Processing to automate sentiment analysis at scale — removing subjectivity from feedback interpretation.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Build a tiered burnout risk classification model (Low / Moderate / High) based on multi-factor analysis.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Develop dual-role dashboards for employees and managers to visualize trends and act on insights.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Ensure historical data persistence to support longitudinal workforce health trend analysis across departments.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Pilot the system within a front-line workforce segment and benchmark outcomes against baseline productivity metrics.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3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|  Project Scope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What the System Covers — Target Users, Features &amp; Boundaries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 Scope &amp;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Collect structured weekly well-being feedback from front-line employees via a Friday digital survey covering five working days.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Apply NLP sentiment analysis on employee free-text responses to derive emotional polarity scores (Positive / Neutral / Negative).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Compute a composite burnout risk score by weighting stress levels, workload intensity, emotional state, and customer interaction difficulty.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Generate personalized AI-driven well-being reports for each employee with actionable improvement suggestions.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Provide aggregated, anonymized team analytics for managers, enabling proactive workforce health management.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Maintain a persistent historical database of entries to support cross-week trend analysis and longitudinal reporting.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Users &amp; Key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298448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3A6B"/>
                </a:solidFill>
              </a:rPr>
              <a:t>Target Users: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Sales Staff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Customer Service Reps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Support Agents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Team Managers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HR Personnel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3A6B"/>
                </a:solidFill>
              </a:rPr>
              <a:t>Key Features: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Weekly Friday Survey (quantitative + qualitative)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AI/NLP Sentiment Scoring Engine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Burnout Risk Classification: Low / Moderate / High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Role-Based Dashboards (Employee &amp; Manager)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Historical Data Storage &amp; Trend Visualization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4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  |  Methodology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System Architecture, Workflow &amp; Technology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55448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Employee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Login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914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914400"/>
            <a:ext cx="155448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Feedback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914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914400"/>
            <a:ext cx="1554480" cy="5486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0" y="914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914400"/>
            <a:ext cx="155448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NLP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9144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914400"/>
            <a:ext cx="155448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914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Calculation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536192"/>
            <a:ext cx="3291840" cy="2011680"/>
          </a:xfrm>
          <a:prstGeom prst="rect">
            <a:avLst/>
          </a:prstGeom>
          <a:solidFill>
            <a:srgbClr val="D6E8F8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1536192"/>
            <a:ext cx="512064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536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847088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184708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Frontend:  </a:t>
            </a:r>
            <a:r>
              <a:rPr lang="en-US" sz="1000" dirty="0">
                <a:solidFill>
                  <a:srgbClr val="1A2744"/>
                </a:solidFill>
              </a:rPr>
              <a:t>React.js / Bootstrap · Chart.js · HTML5/CSS3/JS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2185416"/>
            <a:ext cx="5120640" cy="310896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18541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Backend:  </a:t>
            </a:r>
            <a:r>
              <a:rPr lang="en-US" sz="1000" dirty="0">
                <a:solidFill>
                  <a:srgbClr val="1A2744"/>
                </a:solidFill>
              </a:rPr>
              <a:t>Python (Flask / Django) · REST API · JWT Auth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523744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52374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AI / NLP:  </a:t>
            </a:r>
            <a:r>
              <a:rPr lang="en-US" sz="1000" dirty="0">
                <a:solidFill>
                  <a:srgbClr val="1A2744"/>
                </a:solidFill>
              </a:rPr>
              <a:t>NLTK · TextBlob · VADER · Scikit-learn · Custom Scoring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749040" y="2862072"/>
            <a:ext cx="5120640" cy="310896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286207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Database:  </a:t>
            </a:r>
            <a:r>
              <a:rPr lang="en-US" sz="1000" dirty="0">
                <a:solidFill>
                  <a:srgbClr val="1A2744"/>
                </a:solidFill>
              </a:rPr>
              <a:t>MySQL / PostgreSQL · Employee &amp; Feedback Tables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3200400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20040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</a:rPr>
              <a:t>Deployment:  </a:t>
            </a:r>
            <a:r>
              <a:rPr lang="en-US" sz="1000" dirty="0">
                <a:solidFill>
                  <a:srgbClr val="1A2744"/>
                </a:solidFill>
              </a:rPr>
              <a:t>Docker-ready · Cloud-compatible (AWS / GCP / Azure)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58444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</a:rPr>
              <a:t>Agile iterative development with weekly sprint cycles — feedback and AI model tuning after each iteration.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</a:rPr>
              <a:t>Data pipeline: structured form inputs → numerical normalization → NLP sentiment classification → composite scoring.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5 / 12</a:t>
            </a:r>
            <a:endParaRPr lang="en-US" sz="800" dirty="0"/>
          </a:p>
        </p:txBody>
      </p:sp>
      <p:pic>
        <p:nvPicPr>
          <p:cNvPr id="2050" name="Picture 2" descr="Students’ Burnout Symptoms Detection Using Smartwatch Wearable Devices: A Systematic Literature Review | MDPI">
            <a:extLst>
              <a:ext uri="{FF2B5EF4-FFF2-40B4-BE49-F238E27FC236}">
                <a16:creationId xmlns:a16="http://schemas.microsoft.com/office/drawing/2014/main" id="{D0ECFA80-4B48-3D2F-49EA-C7F6C8FAC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99" y="1490296"/>
            <a:ext cx="3391685" cy="2103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|  Requirement and Cost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Functional, Non-Functional Requirements &amp; Estimated Project Cost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Functional Requirements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User authentication system with role-based access control (Employee / Manager / HR / Admin roles).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Weekly structured feedback form with quantitative sliders and mandatory free-text field, auto-closing every Friday.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NLP engine to tokenize, clean, and classify free-text responses into sentiment categories with polarity scores.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Composite burnout risk scoring algorithm combining stress, workload, emotional state, and NLP output.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Employee personal dashboard with weekly stress charts, AI-generated insights, and risk notifications.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Manager dashboard with team-wide heatmaps, individual risk flags, and exportable PDF reports.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Automated alert system notifying managers when an employee enters Moderate or High risk classification.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Non-Functional &amp; Cost Estimates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280160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Scalability: Handle 500+ concurrent users without performance degradation.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Security: All data encrypted at rest and in transit; GDPR-compliant data handling.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Availability: 99.5% uptime SLA with failover database configuration.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Performance: Survey submission &amp; dashboard load time under 2 seconds.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A2744"/>
                </a:solidFill>
              </a:rPr>
              <a:t>Privacy: NLP sentiment data stored without PII linkage in analytics layer.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3429000"/>
            <a:ext cx="4160520" cy="2560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4290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A500"/>
                </a:solidFill>
              </a:rPr>
              <a:t>Cost Summary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703320"/>
            <a:ext cx="41605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033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Cloud Hosting (1 yr)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89520" y="3703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2744"/>
                </a:solidFill>
              </a:rPr>
              <a:t>₹ 12,000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941064"/>
            <a:ext cx="4160520" cy="228600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94106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Domain &amp; SSL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589520" y="394106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2744"/>
                </a:solidFill>
              </a:rPr>
              <a:t>₹ 1,500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4178808"/>
            <a:ext cx="41605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1788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DB Storage (1 yr)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589520" y="41788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2744"/>
                </a:solidFill>
              </a:rPr>
              <a:t>₹ 4,000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4416552"/>
            <a:ext cx="4160520" cy="228600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4165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NLP Libraries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89520" y="44165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A2744"/>
                </a:solidFill>
              </a:rPr>
              <a:t>Open Source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4654296"/>
            <a:ext cx="416052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65429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Total Estimate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89520" y="46542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D8A4E"/>
                </a:solidFill>
              </a:rPr>
              <a:t>₹ 17,500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6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  |  Developing Project Execution Timelines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Sprint-Based Agile Schedule &amp; Milestone Planning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914400" cy="548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932688"/>
            <a:ext cx="7635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9601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Requirements &amp; Design  </a:t>
            </a:r>
            <a:r>
              <a:rPr lang="en-US" sz="1000" i="1" dirty="0">
                <a:solidFill>
                  <a:srgbClr val="0A2342"/>
                </a:solidFill>
              </a:rPr>
              <a:t>[Week 1–2]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20700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Stakeholder interviews, scope definition, wireframe design, DB schema planning.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09344"/>
            <a:ext cx="91440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34440" y="1609344"/>
            <a:ext cx="7635240" cy="548640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16367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Backend Development  </a:t>
            </a:r>
            <a:r>
              <a:rPr lang="en-US" sz="1000" i="1" dirty="0">
                <a:solidFill>
                  <a:srgbClr val="1A3A6B"/>
                </a:solidFill>
              </a:rPr>
              <a:t>[Week 3–5]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1883664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REST API setup, authentication system, feedback form logic, database integration.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914400" cy="5486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34440" y="2286000"/>
            <a:ext cx="7635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3134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AI / NLP Integration  </a:t>
            </a:r>
            <a:r>
              <a:rPr lang="en-US" sz="1000" i="1" dirty="0">
                <a:solidFill>
                  <a:srgbClr val="1E5799"/>
                </a:solidFill>
              </a:rPr>
              <a:t>[Week 6–7]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2560320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NLTK/TextBlob pipeline, scoring algorithm, risk classification model, unit testing.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91440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62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34440" y="2962656"/>
            <a:ext cx="7635240" cy="548640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2990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Frontend &amp; Dashboards  </a:t>
            </a:r>
            <a:r>
              <a:rPr lang="en-US" sz="1000" i="1" dirty="0">
                <a:solidFill>
                  <a:srgbClr val="2E86AB"/>
                </a:solidFill>
              </a:rPr>
              <a:t>[Week 8–9]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236976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React UI, employee &amp; manager dashboards, Chart.js visualizations, role-based routing.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91440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34440" y="3639312"/>
            <a:ext cx="7635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36667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Testing &amp; Deployment  </a:t>
            </a:r>
            <a:r>
              <a:rPr lang="en-US" sz="1000" i="1" dirty="0">
                <a:solidFill>
                  <a:srgbClr val="4A90D9"/>
                </a:solidFill>
              </a:rPr>
              <a:t>[Week 10–11]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391363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Integration testing, user acceptance testing, bug fixes, cloud deployment, demo.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315968"/>
            <a:ext cx="91440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159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34440" y="4315968"/>
            <a:ext cx="7635240" cy="548640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25880" y="43434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</a:rPr>
              <a:t>Documentation &amp; Review  </a:t>
            </a:r>
            <a:r>
              <a:rPr lang="en-US" sz="1000" i="1" dirty="0">
                <a:solidFill>
                  <a:srgbClr val="F0A500"/>
                </a:solidFill>
              </a:rPr>
              <a:t>[Week 12]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25880" y="4590288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Final report, survey paper draft, presentation preparation, project review submission.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7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  |  Modules Identified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Core System Modules &amp; Their Functional Responsibilities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5196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M1  </a:t>
            </a:r>
            <a:r>
              <a:rPr lang="en-US" sz="1100" b="1" dirty="0">
                <a:solidFill>
                  <a:srgbClr val="FFFFFF"/>
                </a:solidFill>
              </a:rPr>
              <a:t>Employee Module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Secure login and role-based session management for each employee.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Weekly survey form auto-activated every Friday with fields for emotional state, stress level, workload, and free text.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Historical submission viewer — employees can review their past week-by-week entries.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Notification system: reminder alerts before Friday cutoff; risk alerts when burnout level escalates.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Personal profile management with department, team, and manager linkage.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4251960" cy="32004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14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M2  </a:t>
            </a:r>
            <a:r>
              <a:rPr lang="en-US" sz="1100" b="1" dirty="0">
                <a:solidFill>
                  <a:srgbClr val="FFFFFF"/>
                </a:solidFill>
              </a:rPr>
              <a:t>AI / NLP Analysis Module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26187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Text preprocessing pipeline: tokenization, stop-word removal, stemming/lemmatization via NLTK.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Sentiment polarity classification using VADER and TextBlob, producing Positive / Neutral / Negative scores.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Numerical ratings normalized and weighted using a custom scoring algorithm (Scikit-learn).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Composite Overall Stress Score calculated as weighted average of all input dimensions.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High-risk input auto-flagging for immediate escalation to the manager dashboard.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425196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M3  </a:t>
            </a:r>
            <a:r>
              <a:rPr lang="en-US" sz="1100" b="1" dirty="0">
                <a:solidFill>
                  <a:srgbClr val="FFFFFF"/>
                </a:solidFill>
              </a:rPr>
              <a:t>Burnout Detection Module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Multi-factor risk engine evaluating: stress score &gt; 7/10, negative NLP sentiment, heavy workload rating.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Consecutive-week tracking: 3+ weeks of Moderate risk automatically upgrades classification to High.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LOW RISK (0–40): Employee managing well — standard monitoring continues.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MODERATE RISK (41–70): Signs present — manager auto-notified for check-in recommendation.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HIGH RISK (71–100): Burnout imminent — urgent HR/manager intervention flag triggered.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834640"/>
            <a:ext cx="42519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34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M4  </a:t>
            </a:r>
            <a:r>
              <a:rPr lang="en-US" sz="1100" b="1" dirty="0">
                <a:solidFill>
                  <a:srgbClr val="FFFFFF"/>
                </a:solidFill>
              </a:rPr>
              <a:t>Dashboard Module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3182112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Employee Dashboard: weekly emotional &amp; stress summary, personal AI insights, historical trend charts.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Manager Dashboard: team-wide stress heatmap, employee risk distribution, weekly trend comparisons.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HR Dashboard: department-level aggregated trends, exportable well-being reports (PDF).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Chart.js powered visualizations: line charts, risk gauge dials, sentiment distribution pie charts.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2744"/>
                </a:solidFill>
              </a:rPr>
              <a:t>Real-time data refresh — dashboards update automatically upon new feedback submission.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8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07  |  Draft of Acceptance / Survey Paper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Research Documentation, Paper Scope &amp; Submission Plan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32918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Survey Paper Scope &amp; Contribution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1280160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The survey paper reviews existing employee well-being monitoring systems and identifies the gap in AI-driven, real-time mental health assessment tools in corporate settings.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Surveys 25+ academic and industry papers on NLP-based sentiment analysis, burnout detection, HR analytics, and workforce health monitoring systems.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Proposes a novel multi-factor composite scoring model integrating structured survey data with NLP polarity output — not covered by existing literature.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Benchmarks against prior approaches: manual HR surveys, pulse check apps, and static questionnaire systems, showing superior scalability and objectivity.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Documents experimental outcomes including risk prediction accuracy, false-positive rates, and employee self-reporting reliability.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6052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9144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Submission Plan &amp; Draft Status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9160" y="1280160"/>
            <a:ext cx="4160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Paper Title: 'AI-Driven Employee Well-Being Monitoring Using NLP Sentiment Analysis and Multi-Factor Burnout Risk Scoring'.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Target Conferences / Journals: IEEE Xplore, Springer LNCS, IJCAI Workshop on AI for Social Good, or equivalent peer-reviewed venue.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Current Draft Status: Abstract and Introduction finalized; Literature Review section 70% complete; System Architecture section in progress.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Methodology section to include full description of scoring algorithm, dataset construction, and evaluation metrics (Precision, Recall, F1-Score).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Ethics &amp; Privacy section to address GDPR compliance, data anonymization strategy, and informed consent protocols for employee participants.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Submission target: End of academic term — final draft to be reviewed by project guide prior to submission.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9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08  |  Conclusions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Expected Outcomes, System Impact &amp; Future Directions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8A4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8A4E"/>
                </a:solidFill>
              </a:rPr>
              <a:t>↓ 40%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Estimated Burnout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Risk Reduction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579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5799"/>
                </a:solidFill>
              </a:rPr>
              <a:t>↑ 25%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50592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Projected 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Productivity Gain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AB"/>
                </a:solidFill>
              </a:rPr>
              <a:t>7 days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6864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Average Early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Detection Window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914400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0A500"/>
                </a:solidFill>
              </a:rPr>
              <a:t>500+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03136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Concurrent Users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Supported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901952"/>
            <a:ext cx="859536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0195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Takeaways &amp; Expected Outcomes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2231136"/>
            <a:ext cx="8595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The AI-Based Weekly Well-Being Pulse System bridges the long-standing gap between silent employee distress and actionable managerial insight — replacing reactive HR processes with proactive, data-driven mental health management.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Systematic weekly monitoring via structured surveys enables early detection of burnout trajectories, significantly reducing the risk of complete burnout events that damage both employee well-being and organizational productivity.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The NLP-powered sentiment analysis engine makes feedback interpretation objective, scalable, and free from human bias — processing hundreds of responses within seconds and extracting nuanced emotional signals from free text.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Dual-role dashboards empower employees with self-awareness and managers with team visibility — creating a healthier feedback culture where mental health data informs operational decisions.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Historical trend analysis enables HR teams to identify seasonal stress patterns, department-level risk clusters, and the long-term effectiveness of workplace wellness interventions.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</a:rPr>
              <a:t>The system contributes to building a human-centric, data-informed organizational culture — aligning employee well-being goals with measurable business outcomes including retention, productivity, and engagement scores.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10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09  |  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38912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6E8F8"/>
                </a:solidFill>
              </a:rPr>
              <a:t>Academic &amp; Technical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[1] Maslach, C., &amp; Leiter, M. P. (2016). Burnout. In Stress: Concepts, Cognition, Emotion, and Behavior. Academic Press, pp. 351–357.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347472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[2] Hutto, C. J., &amp; Gilbert, E. (2014). VADER: A Parsimonious Rule-based Model for Sentiment Analysis of Social Media Text. ICWSM 2014.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[3] Loria, S. (2018). TextBlob: Simplified Text Processing. Release 0.15.3. https://textblob.readthedocs.io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12264"/>
            <a:ext cx="8595360" cy="347472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1226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[4] Bird, S., Loper, E., &amp; Klein, E. (2009). Natural Language Processing with Python. O'Reilly Media, Inc.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505456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054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[5] Pedregosa, F., et al. (2011). Scikit-learn: Machine Learning in Python. Journal of Machine Learning Research, 12, 2825–2830.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898648"/>
            <a:ext cx="8595360" cy="347472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986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[6] Gallup (2023). State of the Global Workplace Report — Employee Engagement &amp; Well-Being. Gallup Press.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91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[7] WHO (2019). Burn-out an 'Occupational Phenomenon': International Classification of Diseases. World Health Organization.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85032"/>
            <a:ext cx="8595360" cy="347472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850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[8] Flask Documentation (2023). Flask — Web Development, One Drop at a Time. Pallets Projects. https://flask.palletsprojects.com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078224"/>
            <a:ext cx="8595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782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[9] React.js Documentation (2024). React — A JavaScript Library for Building User Interfaces. Meta Open Source. https://react.dev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471416"/>
            <a:ext cx="8595360" cy="347472"/>
          </a:xfrm>
          <a:prstGeom prst="rect">
            <a:avLst/>
          </a:prstGeom>
          <a:solidFill>
            <a:srgbClr val="EBF4FD"/>
          </a:solidFill>
          <a:ln w="6350">
            <a:solidFill>
              <a:srgbClr val="D6E8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7141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</a:rPr>
              <a:t>[10] Chart.js Documentation (2024). Chart.js — Simple Yet Flexible JavaScript Charting. https://www.chartjs.org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882896"/>
            <a:ext cx="5943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0" y="4882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AI-Based Well-Being Pulse System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11 /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228600" cy="480974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0A500"/>
                </a:solidFill>
              </a:rPr>
              <a:t>REVA UNIVERSITY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8"/>
                </a:solidFill>
              </a:rPr>
              <a:t>School of Computer Science and Engineering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4572000" cy="274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E8F8"/>
                </a:solidFill>
              </a:rPr>
              <a:t>Questions &amp; Discussion Welcome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670048"/>
            <a:ext cx="4572000" cy="2743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88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Pranav Ajith (187)  ·  </a:t>
            </a:r>
            <a:r>
              <a:rPr lang="en-US" sz="1200" dirty="0" err="1">
                <a:solidFill>
                  <a:srgbClr val="FFFFFF"/>
                </a:solidFill>
              </a:rPr>
              <a:t>Sajil</a:t>
            </a:r>
            <a:r>
              <a:rPr lang="en-US" sz="1200">
                <a:solidFill>
                  <a:srgbClr val="FFFFFF"/>
                </a:solidFill>
              </a:rPr>
              <a:t> S Nair (233) 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</a:rPr>
              <a:t>AI-Based Weekly Employee Well-Being Pulse System  |  Mini Project Phase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61529"/>
          </a:solidFill>
          <a:ln w="12700">
            <a:solidFill>
              <a:srgbClr val="0615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82896"/>
            <a:ext cx="5486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E8F8"/>
                </a:solidFill>
              </a:rPr>
              <a:t>School of Computer Science and Engineering  |  REVA University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9520" y="4882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0A500"/>
                </a:solidFill>
              </a:rPr>
              <a:t>E2E  |  12 / 12</a:t>
            </a:r>
            <a:endParaRPr lang="en-US" sz="800" dirty="0"/>
          </a:p>
        </p:txBody>
      </p:sp>
      <p:pic>
        <p:nvPicPr>
          <p:cNvPr id="14" name="Picture 2" descr="About University | REVA University">
            <a:extLst>
              <a:ext uri="{FF2B5EF4-FFF2-40B4-BE49-F238E27FC236}">
                <a16:creationId xmlns:a16="http://schemas.microsoft.com/office/drawing/2014/main" id="{AE421824-F04D-1B84-9701-D956C39DC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437" y="219456"/>
            <a:ext cx="297341" cy="310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2368</Words>
  <Application>Microsoft Office PowerPoint</Application>
  <PresentationFormat>On-screen Show (16:9)</PresentationFormat>
  <Paragraphs>279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Glacial Indifference</vt:lpstr>
      <vt:lpstr>Roboto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Weekly Employee Well-Being Pulse System</dc:title>
  <dc:subject>PptxGenJS Presentation</dc:subject>
  <dc:creator>PptxGenJS</dc:creator>
  <cp:lastModifiedBy>SAJIL NAIR</cp:lastModifiedBy>
  <cp:revision>4</cp:revision>
  <dcterms:created xsi:type="dcterms:W3CDTF">2026-04-22T14:35:21Z</dcterms:created>
  <dcterms:modified xsi:type="dcterms:W3CDTF">2026-04-23T07:50:41Z</dcterms:modified>
</cp:coreProperties>
</file>